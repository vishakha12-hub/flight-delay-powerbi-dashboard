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 of Flight_ID</c:v>
                </c:pt>
              </c:strCache>
            </c:strRef>
          </c:tx>
          <c:spPr>
            <a:solidFill>
              <a:srgbClr val="1E88E5"/>
            </a:solidFill>
            <a:effectLst/>
          </c:spPr>
          <c:invertIfNegative val="0"/>
          <c:dLbls>
            <c:numFmt formatCode="#,##0" sourceLinked="0"/>
            <c:txPr>
              <a:bodyPr/>
              <a:lstStyle/>
              <a:p>
                <a:pPr>
                  <a:defRPr b="0" i="0" strike="noStrike" sz="1100" u="none">
                    <a:solidFill>
                      <a:srgbClr val="16222E"/>
                    </a:solidFill>
                    <a:latin typeface="Arial"/>
                  </a:defRPr>
                </a:pPr>
              </a:p>
            </c:txPr>
            <c:showLegendKey val="0"/>
            <c:showVal val="1"/>
            <c:showCatName val="0"/>
            <c:showSerName val="0"/>
            <c:showPercent val="0"/>
            <c:showBubbleSize val="0"/>
            <c:showLeaderLines val="0"/>
          </c:dLbls>
          <c:cat>
            <c:multiLvlStrRef>
              <c:f>Sheet1!$A$2:$A$7</c:f>
              <c:multiLvlStrCache>
                <c:ptCount val="6"/>
                <c:lvl>
                  <c:pt idx="0">
                    <c:v>IndiGo</c:v>
                  </c:pt>
                  <c:pt idx="1">
                    <c:v>Air India</c:v>
                  </c:pt>
                  <c:pt idx="2">
                    <c:v>SpiceJet</c:v>
                  </c:pt>
                  <c:pt idx="3">
                    <c:v>Vistara</c:v>
                  </c:pt>
                  <c:pt idx="4">
                    <c:v>Akasa Air</c:v>
                  </c:pt>
                  <c:pt idx="5">
                    <c:v>Air India Express</c:v>
                  </c:pt>
                </c:lvl>
              </c:multiLvlStrCache>
            </c:multiLvlStrRef>
          </c:cat>
          <c:val>
            <c:numRef>
              <c:f>Sheet1!$B$2:$B$7</c:f>
              <c:numCache>
                <c:formatCode>General</c:formatCode>
                <c:ptCount val="6"/>
                <c:pt idx="0">
                  <c:v>171</c:v>
                </c:pt>
                <c:pt idx="1">
                  <c:v>81</c:v>
                </c:pt>
                <c:pt idx="2">
                  <c:v>73</c:v>
                </c:pt>
                <c:pt idx="3">
                  <c:v>69</c:v>
                </c:pt>
                <c:pt idx="4">
                  <c:v>60</c:v>
                </c:pt>
                <c:pt idx="5">
                  <c:v>46</c:v>
                </c:pt>
              </c:numCache>
            </c:numRef>
          </c:val>
        </c:ser>
        <c:dLbls>
          <c:numFmt formatCode="#,##0" sourceLinked="0"/>
          <c:txPr>
            <a:bodyPr/>
            <a:lstStyle/>
            <a:p>
              <a:pPr>
                <a:defRPr b="0" i="0" strike="noStrike" sz="1100" u="none">
                  <a:solidFill>
                    <a:srgbClr val="16222E"/>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2"/>
        <c:crosses val="autoZero"/>
        <c:auto val="1"/>
        <c:lblAlgn val="ctr"/>
        <c:noMultiLvlLbl val="1"/>
      </c:catAx>
      <c:valAx>
        <c:axId val="2094734552"/>
        <c:scaling>
          <c:orientation val="minMax"/>
          <c:max val="190"/>
        </c:scaling>
        <c:delete val="0"/>
        <c:axPos val="l"/>
        <c:majorGridlines>
          <c:spPr>
            <a:ln w="12700" cap="flat">
              <a:solidFill>
                <a:srgbClr val="E4E9ED"/>
              </a:solidFill>
              <a:prstDash val="solid"/>
              <a:round/>
            </a:ln>
          </c:spPr>
        </c:majorGridlines>
        <c:title>
          <c:tx>
            <c:rich>
              <a:bodyPr/>
              <a:lstStyle/>
              <a:p>
                <a:pPr>
                  <a:defRPr sz="1100" b="0" i="0" u="none" strike="noStrike">
                    <a:solidFill>
                      <a:srgbClr val="657079"/>
                    </a:solidFill>
                    <a:latin typeface="Arial"/>
                  </a:defRPr>
                </a:pPr>
                <a:r>
                  <a:rPr sz="1100" b="0" i="0" u="none" strike="noStrike">
                    <a:solidFill>
                      <a:srgbClr val="657079"/>
                    </a:solidFill>
                    <a:latin typeface="Arial"/>
                  </a:rPr>
                  <a:t>Number of Flights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Delay (min)</c:v>
                </c:pt>
              </c:strCache>
            </c:strRef>
          </c:tx>
          <c:spPr>
            <a:solidFill>
              <a:srgbClr val="F5A623"/>
            </a:solidFill>
            <a:effectLst/>
          </c:spPr>
          <c:invertIfNegative val="0"/>
          <c:dLbls>
            <c:numFmt formatCode="#,##0" sourceLinked="0"/>
            <c:txPr>
              <a:bodyPr/>
              <a:lstStyle/>
              <a:p>
                <a:pPr>
                  <a:defRPr b="0" i="0" strike="noStrike" sz="1100" u="none">
                    <a:solidFill>
                      <a:srgbClr val="16222E"/>
                    </a:solidFill>
                    <a:latin typeface="Arial"/>
                  </a:defRPr>
                </a:pPr>
              </a:p>
            </c:txPr>
            <c:showLegendKey val="0"/>
            <c:showVal val="1"/>
            <c:showCatName val="0"/>
            <c:showSerName val="0"/>
            <c:showPercent val="0"/>
            <c:showBubbleSize val="0"/>
            <c:showLeaderLines val="0"/>
          </c:dLbls>
          <c:cat>
            <c:multiLvlStrRef>
              <c:f>Sheet1!$A$2:$A$7</c:f>
              <c:multiLvlStrCache>
                <c:ptCount val="6"/>
                <c:lvl>
                  <c:pt idx="0">
                    <c:v>Air India Express</c:v>
                  </c:pt>
                  <c:pt idx="1">
                    <c:v>SpiceJet</c:v>
                  </c:pt>
                  <c:pt idx="2">
                    <c:v>Air India</c:v>
                  </c:pt>
                  <c:pt idx="3">
                    <c:v>Akasa Air</c:v>
                  </c:pt>
                  <c:pt idx="4">
                    <c:v>IndiGo</c:v>
                  </c:pt>
                  <c:pt idx="5">
                    <c:v>Vistara</c:v>
                  </c:pt>
                </c:lvl>
              </c:multiLvlStrCache>
            </c:multiLvlStrRef>
          </c:cat>
          <c:val>
            <c:numRef>
              <c:f>Sheet1!$B$2:$B$7</c:f>
              <c:numCache>
                <c:formatCode>General</c:formatCode>
                <c:ptCount val="6"/>
                <c:pt idx="0">
                  <c:v>28.1</c:v>
                </c:pt>
                <c:pt idx="1">
                  <c:v>27.9</c:v>
                </c:pt>
                <c:pt idx="2">
                  <c:v>27.3</c:v>
                </c:pt>
                <c:pt idx="3">
                  <c:v>22</c:v>
                </c:pt>
                <c:pt idx="4">
                  <c:v>21</c:v>
                </c:pt>
                <c:pt idx="5">
                  <c:v>19.9</c:v>
                </c:pt>
              </c:numCache>
            </c:numRef>
          </c:val>
        </c:ser>
        <c:dLbls>
          <c:numFmt formatCode="#,##0" sourceLinked="0"/>
          <c:txPr>
            <a:bodyPr/>
            <a:lstStyle/>
            <a:p>
              <a:pPr>
                <a:defRPr b="0" i="0" strike="noStrike" sz="1100" u="none">
                  <a:solidFill>
                    <a:srgbClr val="16222E"/>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2"/>
        <c:crosses val="autoZero"/>
        <c:auto val="1"/>
        <c:lblAlgn val="ctr"/>
        <c:noMultiLvlLbl val="1"/>
      </c:catAx>
      <c:valAx>
        <c:axId val="2094734552"/>
        <c:scaling>
          <c:orientation val="minMax"/>
          <c:max val="32"/>
        </c:scaling>
        <c:delete val="0"/>
        <c:axPos val="b"/>
        <c:majorGridlines>
          <c:spPr>
            <a:ln w="12700" cap="flat">
              <a:solidFill>
                <a:srgbClr val="E4E9ED"/>
              </a:solidFill>
              <a:prstDash val="solid"/>
              <a:round/>
            </a:ln>
          </c:spPr>
        </c:majorGridlines>
        <c:title>
          <c:tx>
            <c:rich>
              <a:bodyPr/>
              <a:lstStyle/>
              <a:p>
                <a:pPr>
                  <a:defRPr sz="1100" b="0" i="0" u="none" strike="noStrike">
                    <a:solidFill>
                      <a:srgbClr val="657079"/>
                    </a:solidFill>
                    <a:latin typeface="Arial"/>
                  </a:defRPr>
                </a:pPr>
                <a:r>
                  <a:rPr sz="1100" b="0" i="0" u="none" strike="noStrike">
                    <a:solidFill>
                      <a:srgbClr val="657079"/>
                    </a:solidFill>
                    <a:latin typeface="Arial"/>
                  </a:rPr>
                  <a:t>Average Delay (minutes)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Delay (min)</c:v>
                </c:pt>
              </c:strCache>
            </c:strRef>
          </c:tx>
          <c:spPr>
            <a:solidFill>
              <a:srgbClr val="1E88E5"/>
            </a:solidFill>
            <a:ln w="31750" cap="flat">
              <a:solidFill>
                <a:srgbClr val="1E88E5"/>
              </a:solidFill>
              <a:prstDash val="solid"/>
              <a:round/>
            </a:ln>
            <a:effectLst/>
          </c:spPr>
          <c:invertIfNegative val="0"/>
          <c:dLbls>
            <c:numFmt formatCode="#,##0" sourceLinked="0"/>
            <c:txPr>
              <a:bodyPr/>
              <a:lstStyle/>
              <a:p>
                <a:pPr>
                  <a:defRPr b="0" i="0" strike="noStrike" sz="1000" u="none">
                    <a:solidFill>
                      <a:srgbClr val="16222E"/>
                    </a:solidFill>
                    <a:latin typeface="Arial"/>
                  </a:defRPr>
                </a:pPr>
              </a:p>
            </c:txPr>
            <c:dLblPos val="t"/>
            <c:showLegendKey val="0"/>
            <c:showVal val="1"/>
            <c:showCatName val="0"/>
            <c:showSerName val="0"/>
            <c:showPercent val="0"/>
            <c:showBubbleSize val="0"/>
            <c:showLeaderLines val="0"/>
          </c:dLbls>
          <c:marker>
            <c:symbol val="circle"/>
            <c:size val="6"/>
            <c:spPr>
              <a:solidFill>
                <a:srgbClr val="1E88E5"/>
              </a:solidFill>
              <a:ln w="9525" cap="flat">
                <a:solidFill>
                  <a:srgbClr val="1E88E5"/>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24.5</c:v>
                </c:pt>
                <c:pt idx="1">
                  <c:v>23.4</c:v>
                </c:pt>
                <c:pt idx="2">
                  <c:v>24.5</c:v>
                </c:pt>
                <c:pt idx="3">
                  <c:v>24.3</c:v>
                </c:pt>
                <c:pt idx="4">
                  <c:v>23.6</c:v>
                </c:pt>
                <c:pt idx="5">
                  <c:v>21.4</c:v>
                </c:pt>
              </c:numCache>
            </c:numRef>
          </c:val>
          <c:smooth val="0"/>
        </c:ser>
        <c:dLbls>
          <c:numFmt formatCode="#,##0" sourceLinked="0"/>
          <c:txPr>
            <a:bodyPr/>
            <a:lstStyle/>
            <a:p>
              <a:pPr>
                <a:defRPr b="0" i="0" strike="noStrike" sz="1000" u="none">
                  <a:solidFill>
                    <a:srgbClr val="16222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2"/>
        <c:crosses val="autoZero"/>
        <c:auto val="1"/>
        <c:lblAlgn val="ctr"/>
        <c:noMultiLvlLbl val="1"/>
      </c:catAx>
      <c:valAx>
        <c:axId val="2094734552"/>
        <c:scaling>
          <c:orientation val="minMax"/>
          <c:max val="27"/>
          <c:min val="18"/>
        </c:scaling>
        <c:delete val="0"/>
        <c:axPos val="l"/>
        <c:majorGridlines>
          <c:spPr>
            <a:ln w="12700" cap="flat">
              <a:solidFill>
                <a:srgbClr val="E4E9ED"/>
              </a:solidFill>
              <a:prstDash val="solid"/>
              <a:round/>
            </a:ln>
          </c:spPr>
        </c:majorGridlines>
        <c:title>
          <c:tx>
            <c:rich>
              <a:bodyPr/>
              <a:lstStyle/>
              <a:p>
                <a:pPr>
                  <a:defRPr sz="1100" b="0" i="0" u="none" strike="noStrike">
                    <a:solidFill>
                      <a:srgbClr val="657079"/>
                    </a:solidFill>
                    <a:latin typeface="Arial"/>
                  </a:defRPr>
                </a:pPr>
                <a:r>
                  <a:rPr sz="1100" b="0" i="0" u="none" strike="noStrike">
                    <a:solidFill>
                      <a:srgbClr val="657079"/>
                    </a:solidFill>
                    <a:latin typeface="Arial"/>
                  </a:rPr>
                  <a:t>Average Delay (minutes)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Delay (min)</c:v>
                </c:pt>
              </c:strCache>
            </c:strRef>
          </c:tx>
          <c:spPr>
            <a:solidFill>
              <a:srgbClr val="1E88E5"/>
            </a:solidFill>
            <a:effectLst/>
          </c:spPr>
          <c:invertIfNegative val="0"/>
          <c:dLbls>
            <c:numFmt formatCode="#,##0" sourceLinked="0"/>
            <c:txPr>
              <a:bodyPr/>
              <a:lstStyle/>
              <a:p>
                <a:pPr>
                  <a:defRPr b="0" i="0" strike="noStrike" sz="950" u="none">
                    <a:solidFill>
                      <a:srgbClr val="16222E"/>
                    </a:solidFill>
                    <a:latin typeface="Arial"/>
                  </a:defRPr>
                </a:pPr>
              </a:p>
            </c:txPr>
            <c:showLegendKey val="0"/>
            <c:showVal val="1"/>
            <c:showCatName val="0"/>
            <c:showSerName val="0"/>
            <c:showPercent val="0"/>
            <c:showBubbleSize val="0"/>
            <c:showLeaderLines val="0"/>
          </c:dLbls>
          <c:cat>
            <c:multiLvlStrRef>
              <c:f>Sheet1!$A$2:$A$11</c:f>
              <c:multiLvlStrCache>
                <c:ptCount val="10"/>
                <c:lvl>
                  <c:pt idx="0">
                    <c:v>Mumbai</c:v>
                  </c:pt>
                  <c:pt idx="1">
                    <c:v>Jaipur</c:v>
                  </c:pt>
                  <c:pt idx="2">
                    <c:v>Kolkata</c:v>
                  </c:pt>
                  <c:pt idx="3">
                    <c:v>Chennai</c:v>
                  </c:pt>
                  <c:pt idx="4">
                    <c:v>Goa</c:v>
                  </c:pt>
                  <c:pt idx="5">
                    <c:v>Bangalore</c:v>
                  </c:pt>
                  <c:pt idx="6">
                    <c:v>Delhi</c:v>
                  </c:pt>
                  <c:pt idx="7">
                    <c:v>Pune</c:v>
                  </c:pt>
                  <c:pt idx="8">
                    <c:v>Hyderabad</c:v>
                  </c:pt>
                  <c:pt idx="9">
                    <c:v>Ahmedabad</c:v>
                  </c:pt>
                </c:lvl>
              </c:multiLvlStrCache>
            </c:multiLvlStrRef>
          </c:cat>
          <c:val>
            <c:numRef>
              <c:f>Sheet1!$B$2:$B$11</c:f>
              <c:numCache>
                <c:formatCode>General</c:formatCode>
                <c:ptCount val="10"/>
                <c:pt idx="0">
                  <c:v>27.6</c:v>
                </c:pt>
                <c:pt idx="1">
                  <c:v>26.7</c:v>
                </c:pt>
                <c:pt idx="2">
                  <c:v>26</c:v>
                </c:pt>
                <c:pt idx="3">
                  <c:v>24.2</c:v>
                </c:pt>
                <c:pt idx="4">
                  <c:v>23.1</c:v>
                </c:pt>
                <c:pt idx="5">
                  <c:v>23</c:v>
                </c:pt>
                <c:pt idx="6">
                  <c:v>22.6</c:v>
                </c:pt>
                <c:pt idx="7">
                  <c:v>22.5</c:v>
                </c:pt>
                <c:pt idx="8">
                  <c:v>22.2</c:v>
                </c:pt>
                <c:pt idx="9">
                  <c:v>20.1</c:v>
                </c:pt>
              </c:numCache>
            </c:numRef>
          </c:val>
        </c:ser>
        <c:dLbls>
          <c:numFmt formatCode="#,##0" sourceLinked="0"/>
          <c:txPr>
            <a:bodyPr/>
            <a:lstStyle/>
            <a:p>
              <a:pPr>
                <a:defRPr b="0" i="0" strike="noStrike" sz="950" u="none">
                  <a:solidFill>
                    <a:srgbClr val="16222E"/>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57079"/>
                </a:solidFill>
                <a:latin typeface="Arial"/>
              </a:defRPr>
            </a:pPr>
            <a:endParaRPr lang="en-US"/>
          </a:p>
        </c:txPr>
        <c:crossAx val="2094734552"/>
        <c:crosses val="autoZero"/>
        <c:auto val="1"/>
        <c:lblAlgn val="ctr"/>
        <c:noMultiLvlLbl val="1"/>
      </c:catAx>
      <c:valAx>
        <c:axId val="2094734552"/>
        <c:scaling>
          <c:orientation val="minMax"/>
          <c:max val="31"/>
        </c:scaling>
        <c:delete val="0"/>
        <c:axPos val="b"/>
        <c:majorGridlines>
          <c:spPr>
            <a:ln w="12700" cap="flat">
              <a:solidFill>
                <a:srgbClr val="E4E9ED"/>
              </a:solidFill>
              <a:prstDash val="solid"/>
              <a:round/>
            </a:ln>
          </c:spPr>
        </c:majorGridlines>
        <c:title>
          <c:tx>
            <c:rich>
              <a:bodyPr/>
              <a:lstStyle/>
              <a:p>
                <a:pPr>
                  <a:defRPr sz="1100" b="0" i="0" u="none" strike="noStrike">
                    <a:solidFill>
                      <a:srgbClr val="657079"/>
                    </a:solidFill>
                    <a:latin typeface="Arial"/>
                  </a:defRPr>
                </a:pPr>
                <a:r>
                  <a:rPr sz="1100" b="0" i="0" u="none" strike="noStrike">
                    <a:solidFill>
                      <a:srgbClr val="657079"/>
                    </a:solidFill>
                    <a:latin typeface="Arial"/>
                  </a:rPr>
                  <a:t>Average Delay (minutes)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Delay (min)</c:v>
                </c:pt>
              </c:strCache>
            </c:strRef>
          </c:tx>
          <c:spPr>
            <a:solidFill>
              <a:srgbClr val="F5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Sheet1!$A$2:$A$18</c:f>
              <c:multiLvlStrCache>
                <c:ptCount val="17"/>
                <c:lvl>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pt idx="15">
                    <c:v>21</c:v>
                  </c:pt>
                  <c:pt idx="16">
                    <c:v>22</c:v>
                  </c:pt>
                </c:lvl>
              </c:multiLvlStrCache>
            </c:multiLvlStrRef>
          </c:cat>
          <c:val>
            <c:numRef>
              <c:f>Sheet1!$B$2:$B$18</c:f>
              <c:numCache>
                <c:formatCode>General</c:formatCode>
                <c:ptCount val="17"/>
                <c:pt idx="0">
                  <c:v>13.6</c:v>
                </c:pt>
                <c:pt idx="1">
                  <c:v>19.5</c:v>
                </c:pt>
                <c:pt idx="2">
                  <c:v>18.8</c:v>
                </c:pt>
                <c:pt idx="3">
                  <c:v>26.2</c:v>
                </c:pt>
                <c:pt idx="4">
                  <c:v>27.9</c:v>
                </c:pt>
                <c:pt idx="5">
                  <c:v>23.5</c:v>
                </c:pt>
                <c:pt idx="6">
                  <c:v>15.5</c:v>
                </c:pt>
                <c:pt idx="7">
                  <c:v>25.1</c:v>
                </c:pt>
                <c:pt idx="8">
                  <c:v>18.3</c:v>
                </c:pt>
                <c:pt idx="9">
                  <c:v>19.8</c:v>
                </c:pt>
                <c:pt idx="10">
                  <c:v>20.9</c:v>
                </c:pt>
                <c:pt idx="11">
                  <c:v>16.2</c:v>
                </c:pt>
                <c:pt idx="12">
                  <c:v>32.9</c:v>
                </c:pt>
                <c:pt idx="13">
                  <c:v>31.8</c:v>
                </c:pt>
                <c:pt idx="14">
                  <c:v>31.2</c:v>
                </c:pt>
                <c:pt idx="15">
                  <c:v>33.6</c:v>
                </c:pt>
                <c:pt idx="16">
                  <c:v>25.2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1050" b="0" i="0" u="none" strike="noStrike">
                    <a:solidFill>
                      <a:srgbClr val="657079"/>
                    </a:solidFill>
                    <a:latin typeface="Arial"/>
                  </a:defRPr>
                </a:pPr>
                <a:r>
                  <a:rPr sz="1050" b="0" i="0" u="none" strike="noStrike">
                    <a:solidFill>
                      <a:srgbClr val="657079"/>
                    </a:solidFill>
                    <a:latin typeface="Arial"/>
                  </a:rPr>
                  <a:t>Departure Hour (24h)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570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ED"/>
              </a:solidFill>
              <a:prstDash val="solid"/>
              <a:round/>
            </a:ln>
          </c:spPr>
        </c:majorGridlines>
        <c:title>
          <c:tx>
            <c:rich>
              <a:bodyPr/>
              <a:lstStyle/>
              <a:p>
                <a:pPr>
                  <a:defRPr sz="1100" b="0" i="0" u="none" strike="noStrike">
                    <a:solidFill>
                      <a:srgbClr val="657079"/>
                    </a:solidFill>
                    <a:latin typeface="Arial"/>
                  </a:defRPr>
                </a:pPr>
                <a:r>
                  <a:rPr sz="1100" b="0" i="0" u="none" strike="noStrike">
                    <a:solidFill>
                      <a:srgbClr val="657079"/>
                    </a:solidFill>
                    <a:latin typeface="Arial"/>
                  </a:rPr>
                  <a:t>Average Delay (minutes)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570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Count of Flight_ID</c:v>
                </c:pt>
              </c:strCache>
            </c:strRef>
          </c:tx>
          <c:spPr>
            <a:solidFill>
              <a:schemeClr val="accent1"/>
            </a:solidFill>
            <a:ln w="9525" cap="flat">
              <a:solidFill>
                <a:srgbClr val="F9F9F9"/>
              </a:solidFill>
              <a:prstDash val="solid"/>
              <a:round/>
            </a:ln>
            <a:effectLst/>
          </c:spPr>
          <c:dPt>
            <c:idx val="0"/>
            <c:bubble3D val="0"/>
            <c:spPr>
              <a:solidFill>
                <a:srgbClr val="F5A623"/>
              </a:solidFill>
              <a:effectLst/>
            </c:spPr>
          </c:dPt>
          <c:dPt>
            <c:idx val="1"/>
            <c:bubble3D val="0"/>
            <c:spPr>
              <a:solidFill>
                <a:srgbClr val="1E88E5"/>
              </a:solidFill>
              <a:effectLst/>
            </c:spPr>
          </c:dPt>
          <c:dPt>
            <c:idx val="2"/>
            <c:bubble3D val="0"/>
            <c:spPr>
              <a:solidFill>
                <a:srgbClr val="B0B8BF"/>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Delayed</c:v>
                </c:pt>
                <c:pt idx="1">
                  <c:v>On-Time</c:v>
                </c:pt>
                <c:pt idx="2">
                  <c:v>Cancelled</c:v>
                </c:pt>
              </c:strCache>
            </c:strRef>
          </c:cat>
          <c:val>
            <c:numRef>
              <c:f>Sheet1!$B$2:$B$4</c:f>
              <c:numCache>
                <c:ptCount val="3"/>
                <c:pt idx="0">
                  <c:v>317</c:v>
                </c:pt>
                <c:pt idx="1">
                  <c:v>169</c:v>
                </c:pt>
                <c:pt idx="2">
                  <c:v>14</c:v>
                </c:pt>
              </c:numCache>
            </c:numRef>
          </c:val>
        </c:ser>
        <c:firstSliceAng val="0"/>
        <c:holeSize val="60"/>
      </c:doughnutChart>
      <c:spPr>
        <a:noFill/>
        <a:ln>
          <a:noFill/>
        </a:ln>
        <a:effectLst/>
      </c:spPr>
    </c:plotArea>
    <c:legend>
      <c:legendPos val="r"/>
      <c:overlay val="0"/>
      <c:txPr>
        <a:bodyPr/>
        <a:lstStyle/>
        <a:p>
          <a:pPr>
            <a:defRPr sz="1200">
              <a:solidFill>
                <a:srgbClr val="657079"/>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3"/>
        </a:solidFill>
      </p:bgPr>
    </p:bg>
    <p:spTree>
      <p:nvGrpSpPr>
        <p:cNvPr id="1" name=""/>
        <p:cNvGrpSpPr/>
        <p:nvPr/>
      </p:nvGrpSpPr>
      <p:grpSpPr>
        <a:xfrm>
          <a:off x="0" y="0"/>
          <a:ext cx="0" cy="0"/>
          <a:chOff x="0" y="0"/>
          <a:chExt cx="0" cy="0"/>
        </a:xfrm>
      </p:grpSpPr>
      <p:sp>
        <p:nvSpPr>
          <p:cNvPr id="2" name="Shape 0"/>
          <p:cNvSpPr/>
          <p:nvPr/>
        </p:nvSpPr>
        <p:spPr>
          <a:xfrm>
            <a:off x="6446520" y="0"/>
            <a:ext cx="5742432" cy="6858000"/>
          </a:xfrm>
          <a:prstGeom prst="rect">
            <a:avLst/>
          </a:prstGeom>
          <a:solidFill>
            <a:srgbClr val="132A45"/>
          </a:solidFill>
          <a:ln/>
        </p:spPr>
      </p:sp>
      <p:sp>
        <p:nvSpPr>
          <p:cNvPr id="3" name="Shape 1"/>
          <p:cNvSpPr/>
          <p:nvPr/>
        </p:nvSpPr>
        <p:spPr>
          <a:xfrm>
            <a:off x="6949440" y="5120640"/>
            <a:ext cx="4572000" cy="-3291840"/>
          </a:xfrm>
          <a:prstGeom prst="line">
            <a:avLst/>
          </a:prstGeom>
          <a:noFill/>
          <a:ln w="31750">
            <a:solidFill>
              <a:srgbClr val="1E88E5"/>
            </a:solidFill>
            <a:prstDash val="dash"/>
          </a:ln>
        </p:spPr>
      </p:sp>
      <p:sp>
        <p:nvSpPr>
          <p:cNvPr id="4" name="Shape 2"/>
          <p:cNvSpPr/>
          <p:nvPr/>
        </p:nvSpPr>
        <p:spPr>
          <a:xfrm>
            <a:off x="6894576" y="5065776"/>
            <a:ext cx="109728" cy="109728"/>
          </a:xfrm>
          <a:prstGeom prst="ellipse">
            <a:avLst/>
          </a:prstGeom>
          <a:solidFill>
            <a:srgbClr val="F5A623"/>
          </a:solidFill>
          <a:ln/>
        </p:spPr>
      </p:sp>
      <p:sp>
        <p:nvSpPr>
          <p:cNvPr id="5" name="Shape 3"/>
          <p:cNvSpPr/>
          <p:nvPr/>
        </p:nvSpPr>
        <p:spPr>
          <a:xfrm>
            <a:off x="8449056" y="2962656"/>
            <a:ext cx="109728" cy="109728"/>
          </a:xfrm>
          <a:prstGeom prst="ellipse">
            <a:avLst/>
          </a:prstGeom>
          <a:solidFill>
            <a:srgbClr val="F5A623"/>
          </a:solidFill>
          <a:ln/>
        </p:spPr>
      </p:sp>
      <p:sp>
        <p:nvSpPr>
          <p:cNvPr id="6" name="Shape 4"/>
          <p:cNvSpPr/>
          <p:nvPr/>
        </p:nvSpPr>
        <p:spPr>
          <a:xfrm>
            <a:off x="9820656" y="2139696"/>
            <a:ext cx="109728" cy="109728"/>
          </a:xfrm>
          <a:prstGeom prst="ellipse">
            <a:avLst/>
          </a:prstGeom>
          <a:solidFill>
            <a:srgbClr val="F5A623"/>
          </a:solidFill>
          <a:ln/>
        </p:spPr>
      </p:sp>
      <p:sp>
        <p:nvSpPr>
          <p:cNvPr id="7" name="Shape 5"/>
          <p:cNvSpPr/>
          <p:nvPr/>
        </p:nvSpPr>
        <p:spPr>
          <a:xfrm>
            <a:off x="11466576" y="1773936"/>
            <a:ext cx="109728" cy="109728"/>
          </a:xfrm>
          <a:prstGeom prst="ellipse">
            <a:avLst/>
          </a:prstGeom>
          <a:solidFill>
            <a:srgbClr val="F5A623"/>
          </a:solidFill>
          <a:ln/>
        </p:spPr>
      </p:sp>
      <p:sp>
        <p:nvSpPr>
          <p:cNvPr id="8" name="Text 6"/>
          <p:cNvSpPr/>
          <p:nvPr/>
        </p:nvSpPr>
        <p:spPr>
          <a:xfrm>
            <a:off x="11109960" y="1417320"/>
            <a:ext cx="822960" cy="822960"/>
          </a:xfrm>
          <a:prstGeom prst="rect">
            <a:avLst/>
          </a:prstGeom>
          <a:noFill/>
          <a:ln/>
        </p:spPr>
        <p:txBody>
          <a:bodyPr wrap="square" lIns="0" tIns="0" rIns="0" bIns="0" rtlCol="0" anchor="ctr"/>
          <a:lstStyle/>
          <a:p>
            <a:pPr algn="ctr" indent="0" marL="0">
              <a:buNone/>
            </a:pPr>
            <a:r>
              <a:rPr lang="en-US" sz="4000" dirty="0">
                <a:solidFill>
                  <a:srgbClr val="FFFFFF"/>
                </a:solidFill>
              </a:rPr>
              <a:t>✈</a:t>
            </a:r>
            <a:endParaRPr lang="en-US" sz="4000" dirty="0"/>
          </a:p>
        </p:txBody>
      </p:sp>
      <p:sp>
        <p:nvSpPr>
          <p:cNvPr id="9" name="Text 7"/>
          <p:cNvSpPr/>
          <p:nvPr/>
        </p:nvSpPr>
        <p:spPr>
          <a:xfrm>
            <a:off x="640080" y="1417320"/>
            <a:ext cx="5486400" cy="320040"/>
          </a:xfrm>
          <a:prstGeom prst="rect">
            <a:avLst/>
          </a:prstGeom>
          <a:noFill/>
          <a:ln/>
        </p:spPr>
        <p:txBody>
          <a:bodyPr wrap="square" lIns="0" tIns="0" rIns="0" bIns="0" rtlCol="0" anchor="ctr"/>
          <a:lstStyle/>
          <a:p>
            <a:pPr indent="0" marL="0">
              <a:buNone/>
            </a:pPr>
            <a:r>
              <a:rPr lang="en-US" sz="1300" b="1" spc="300" kern="0" dirty="0">
                <a:solidFill>
                  <a:srgbClr val="F5A623"/>
                </a:solidFill>
                <a:latin typeface="Calibri" pitchFamily="34" charset="0"/>
                <a:ea typeface="Calibri" pitchFamily="34" charset="-122"/>
                <a:cs typeface="Calibri" pitchFamily="34" charset="-120"/>
              </a:rPr>
              <a:t>CAPSTONE PROJECT WALKTHROUGH</a:t>
            </a:r>
            <a:endParaRPr lang="en-US" sz="1300" dirty="0"/>
          </a:p>
        </p:txBody>
      </p:sp>
      <p:sp>
        <p:nvSpPr>
          <p:cNvPr id="10" name="Text 8"/>
          <p:cNvSpPr/>
          <p:nvPr/>
        </p:nvSpPr>
        <p:spPr>
          <a:xfrm>
            <a:off x="594360" y="1828800"/>
            <a:ext cx="566928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Flight Delay &amp;</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Performance Analytics</a:t>
            </a:r>
            <a:endParaRPr lang="en-US" sz="4000" dirty="0"/>
          </a:p>
        </p:txBody>
      </p:sp>
      <p:sp>
        <p:nvSpPr>
          <p:cNvPr id="11" name="Text 9"/>
          <p:cNvSpPr/>
          <p:nvPr/>
        </p:nvSpPr>
        <p:spPr>
          <a:xfrm>
            <a:off x="640080" y="3703320"/>
            <a:ext cx="5394960" cy="1005840"/>
          </a:xfrm>
          <a:prstGeom prst="rect">
            <a:avLst/>
          </a:prstGeom>
          <a:noFill/>
          <a:ln/>
        </p:spPr>
        <p:txBody>
          <a:bodyPr wrap="square" lIns="0" tIns="0" rIns="0" bIns="0" rtlCol="0" anchor="ctr"/>
          <a:lstStyle/>
          <a:p>
            <a:pPr indent="0" marL="0">
              <a:lnSpc>
                <a:spcPct val="125000"/>
              </a:lnSpc>
              <a:buNone/>
            </a:pPr>
            <a:r>
              <a:rPr lang="en-US" sz="1400" dirty="0">
                <a:solidFill>
                  <a:srgbClr val="CFCFCF"/>
                </a:solidFill>
                <a:latin typeface="Calibri" pitchFamily="34" charset="0"/>
                <a:ea typeface="Calibri" pitchFamily="34" charset="-122"/>
                <a:cs typeface="Calibri" pitchFamily="34" charset="-120"/>
              </a:rPr>
              <a:t>A guided tour of the Power BI dashboard's KPIs and six report pages — what each visual measures, how to read it, and what it reveals about flight delay patterns.</a:t>
            </a:r>
            <a:endParaRPr lang="en-US" sz="1400" dirty="0"/>
          </a:p>
        </p:txBody>
      </p:sp>
      <p:sp>
        <p:nvSpPr>
          <p:cNvPr id="12" name="Shape 10"/>
          <p:cNvSpPr/>
          <p:nvPr/>
        </p:nvSpPr>
        <p:spPr>
          <a:xfrm>
            <a:off x="640080" y="5989320"/>
            <a:ext cx="502920" cy="54864"/>
          </a:xfrm>
          <a:prstGeom prst="rect">
            <a:avLst/>
          </a:prstGeom>
          <a:solidFill>
            <a:srgbClr val="F5A623"/>
          </a:solidFill>
          <a:ln/>
        </p:spPr>
      </p:sp>
      <p:sp>
        <p:nvSpPr>
          <p:cNvPr id="13" name="Text 11"/>
          <p:cNvSpPr/>
          <p:nvPr/>
        </p:nvSpPr>
        <p:spPr>
          <a:xfrm>
            <a:off x="640080" y="6126480"/>
            <a:ext cx="5486400" cy="365760"/>
          </a:xfrm>
          <a:prstGeom prst="rect">
            <a:avLst/>
          </a:prstGeom>
          <a:noFill/>
          <a:ln/>
        </p:spPr>
        <p:txBody>
          <a:bodyPr wrap="square" lIns="0" tIns="0" rIns="0" bIns="0" rtlCol="0" anchor="ctr"/>
          <a:lstStyle/>
          <a:p>
            <a:pPr indent="0" marL="0">
              <a:buNone/>
            </a:pPr>
            <a:r>
              <a:rPr lang="en-US" sz="1050" dirty="0">
                <a:solidFill>
                  <a:srgbClr val="9AA5AF"/>
                </a:solidFill>
                <a:latin typeface="Calibri" pitchFamily="34" charset="0"/>
                <a:ea typeface="Calibri" pitchFamily="34" charset="-122"/>
                <a:cs typeface="Calibri" pitchFamily="34" charset="-120"/>
              </a:rPr>
              <a:t>Based on 500 domestic flight records — Power BI report: Project.pbix</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OVERVIEW · FLIGHT OVERVIEW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Dashboard at a Glance</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02 / 10</a:t>
            </a:r>
            <a:endParaRPr lang="en-US" sz="900" dirty="0"/>
          </a:p>
        </p:txBody>
      </p:sp>
      <p:sp>
        <p:nvSpPr>
          <p:cNvPr id="5" name="Text 3"/>
          <p:cNvSpPr/>
          <p:nvPr/>
        </p:nvSpPr>
        <p:spPr>
          <a:xfrm>
            <a:off x="548640" y="1234440"/>
            <a:ext cx="10881360" cy="594360"/>
          </a:xfrm>
          <a:prstGeom prst="rect">
            <a:avLst/>
          </a:prstGeom>
          <a:noFill/>
          <a:ln/>
        </p:spPr>
        <p:txBody>
          <a:bodyPr wrap="square" lIns="0" tIns="0" rIns="0" bIns="0" rtlCol="0" anchor="ctr"/>
          <a:lstStyle/>
          <a:p>
            <a:pPr indent="0" marL="0">
              <a:lnSpc>
                <a:spcPct val="120000"/>
              </a:lnSpc>
              <a:buNone/>
            </a:pPr>
            <a:r>
              <a:rPr lang="en-US" sz="1350" dirty="0">
                <a:solidFill>
                  <a:srgbClr val="657079"/>
                </a:solidFill>
                <a:latin typeface="Calibri" pitchFamily="34" charset="0"/>
                <a:ea typeface="Calibri" pitchFamily="34" charset="-122"/>
                <a:cs typeface="Calibri" pitchFamily="34" charset="-120"/>
              </a:rPr>
              <a:t>The report opens on an overview page with five KPI cards and three slicers (Airline, Origin, Flight Status) that filter every page in the report. The dataset covers 500 domestic flights across 6 airlines and 10 origin airports.</a:t>
            </a:r>
            <a:endParaRPr lang="en-US" sz="1350" dirty="0"/>
          </a:p>
        </p:txBody>
      </p:sp>
      <p:sp>
        <p:nvSpPr>
          <p:cNvPr id="6" name="Shape 4"/>
          <p:cNvSpPr/>
          <p:nvPr/>
        </p:nvSpPr>
        <p:spPr>
          <a:xfrm>
            <a:off x="548640" y="2148840"/>
            <a:ext cx="2066544" cy="3383280"/>
          </a:xfrm>
          <a:prstGeom prst="roundRect">
            <a:avLst>
              <a:gd name="adj" fmla="val 5310"/>
            </a:avLst>
          </a:prstGeom>
          <a:solidFill>
            <a:srgbClr val="F6F8FA"/>
          </a:solidFill>
          <a:ln/>
          <a:effectLst>
            <a:outerShdw sx="100000" sy="100000" kx="0" ky="0" algn="bl" rotWithShape="0" blurRad="76200" dist="25400" dir="5400000">
              <a:srgbClr val="999999">
                <a:alpha val="25000"/>
              </a:srgbClr>
            </a:outerShdw>
          </a:effectLst>
        </p:spPr>
      </p:sp>
      <p:sp>
        <p:nvSpPr>
          <p:cNvPr id="7" name="Shape 5"/>
          <p:cNvSpPr/>
          <p:nvPr/>
        </p:nvSpPr>
        <p:spPr>
          <a:xfrm>
            <a:off x="731520" y="2404872"/>
            <a:ext cx="420624" cy="420624"/>
          </a:xfrm>
          <a:prstGeom prst="ellipse">
            <a:avLst/>
          </a:prstGeom>
          <a:solidFill>
            <a:srgbClr val="1E88E5"/>
          </a:solidFill>
          <a:ln/>
        </p:spPr>
      </p:sp>
      <p:sp>
        <p:nvSpPr>
          <p:cNvPr id="8" name="Text 6"/>
          <p:cNvSpPr/>
          <p:nvPr/>
        </p:nvSpPr>
        <p:spPr>
          <a:xfrm>
            <a:off x="731520"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13232" y="3017520"/>
            <a:ext cx="1737360" cy="640080"/>
          </a:xfrm>
          <a:prstGeom prst="rect">
            <a:avLst/>
          </a:prstGeom>
          <a:noFill/>
          <a:ln/>
        </p:spPr>
        <p:txBody>
          <a:bodyPr wrap="square" lIns="0" tIns="0" rIns="0" bIns="0" rtlCol="0" anchor="ctr"/>
          <a:lstStyle/>
          <a:p>
            <a:pPr indent="0" marL="0">
              <a:buNone/>
            </a:pPr>
            <a:r>
              <a:rPr lang="en-US" sz="2200" b="1" dirty="0">
                <a:solidFill>
                  <a:srgbClr val="16222E"/>
                </a:solidFill>
                <a:latin typeface="Cambria" pitchFamily="34" charset="0"/>
                <a:ea typeface="Cambria" pitchFamily="34" charset="-122"/>
                <a:cs typeface="Cambria" pitchFamily="34" charset="-120"/>
              </a:rPr>
              <a:t>500</a:t>
            </a:r>
            <a:endParaRPr lang="en-US" sz="2200" dirty="0"/>
          </a:p>
        </p:txBody>
      </p:sp>
      <p:sp>
        <p:nvSpPr>
          <p:cNvPr id="10" name="Text 8"/>
          <p:cNvSpPr/>
          <p:nvPr/>
        </p:nvSpPr>
        <p:spPr>
          <a:xfrm>
            <a:off x="713232" y="3630168"/>
            <a:ext cx="1737360" cy="502920"/>
          </a:xfrm>
          <a:prstGeom prst="rect">
            <a:avLst/>
          </a:prstGeom>
          <a:noFill/>
          <a:ln/>
        </p:spPr>
        <p:txBody>
          <a:bodyPr wrap="square" lIns="0" tIns="0" rIns="0" bIns="0" rtlCol="0" anchor="ctr"/>
          <a:lstStyle/>
          <a:p>
            <a:pPr indent="0" marL="0">
              <a:buNone/>
            </a:pPr>
            <a:r>
              <a:rPr lang="en-US" sz="1150" b="1" dirty="0">
                <a:solidFill>
                  <a:srgbClr val="1E88E5"/>
                </a:solidFill>
                <a:latin typeface="Calibri" pitchFamily="34" charset="0"/>
                <a:ea typeface="Calibri" pitchFamily="34" charset="-122"/>
                <a:cs typeface="Calibri" pitchFamily="34" charset="-120"/>
              </a:rPr>
              <a:t>Total Flights</a:t>
            </a:r>
            <a:endParaRPr lang="en-US" sz="1150" dirty="0"/>
          </a:p>
        </p:txBody>
      </p:sp>
      <p:sp>
        <p:nvSpPr>
          <p:cNvPr id="11" name="Text 9"/>
          <p:cNvSpPr/>
          <p:nvPr/>
        </p:nvSpPr>
        <p:spPr>
          <a:xfrm>
            <a:off x="713232" y="4142232"/>
            <a:ext cx="1737360" cy="1234440"/>
          </a:xfrm>
          <a:prstGeom prst="rect">
            <a:avLst/>
          </a:prstGeom>
          <a:noFill/>
          <a:ln/>
        </p:spPr>
        <p:txBody>
          <a:bodyPr wrap="square" lIns="0" tIns="0" rIns="0" bIns="0" rtlCol="0" anchor="ctr"/>
          <a:lstStyle/>
          <a:p>
            <a:pPr indent="0" marL="0">
              <a:lnSpc>
                <a:spcPct val="120000"/>
              </a:lnSpc>
              <a:buNone/>
            </a:pPr>
            <a:r>
              <a:rPr lang="en-US" sz="1000" dirty="0">
                <a:solidFill>
                  <a:srgbClr val="657079"/>
                </a:solidFill>
                <a:latin typeface="Calibri" pitchFamily="34" charset="0"/>
                <a:ea typeface="Calibri" pitchFamily="34" charset="-122"/>
                <a:cs typeface="Calibri" pitchFamily="34" charset="-120"/>
              </a:rPr>
              <a:t>Count of all flight records in the dataset.</a:t>
            </a:r>
            <a:endParaRPr lang="en-US" sz="1000" dirty="0"/>
          </a:p>
        </p:txBody>
      </p:sp>
      <p:sp>
        <p:nvSpPr>
          <p:cNvPr id="12" name="Shape 10"/>
          <p:cNvSpPr/>
          <p:nvPr/>
        </p:nvSpPr>
        <p:spPr>
          <a:xfrm>
            <a:off x="2779776" y="2148840"/>
            <a:ext cx="2066544" cy="3383280"/>
          </a:xfrm>
          <a:prstGeom prst="roundRect">
            <a:avLst>
              <a:gd name="adj" fmla="val 5310"/>
            </a:avLst>
          </a:prstGeom>
          <a:solidFill>
            <a:srgbClr val="F6F8FA"/>
          </a:solidFill>
          <a:ln/>
          <a:effectLst>
            <a:outerShdw sx="100000" sy="100000" kx="0" ky="0" algn="bl" rotWithShape="0" blurRad="76200" dist="25400" dir="5400000">
              <a:srgbClr val="999999">
                <a:alpha val="25000"/>
              </a:srgbClr>
            </a:outerShdw>
          </a:effectLst>
        </p:spPr>
      </p:sp>
      <p:sp>
        <p:nvSpPr>
          <p:cNvPr id="13" name="Shape 11"/>
          <p:cNvSpPr/>
          <p:nvPr/>
        </p:nvSpPr>
        <p:spPr>
          <a:xfrm>
            <a:off x="2962656" y="2404872"/>
            <a:ext cx="420624" cy="420624"/>
          </a:xfrm>
          <a:prstGeom prst="ellipse">
            <a:avLst/>
          </a:prstGeom>
          <a:solidFill>
            <a:srgbClr val="1E88E5"/>
          </a:solidFill>
          <a:ln/>
        </p:spPr>
      </p:sp>
      <p:sp>
        <p:nvSpPr>
          <p:cNvPr id="14" name="Text 12"/>
          <p:cNvSpPr/>
          <p:nvPr/>
        </p:nvSpPr>
        <p:spPr>
          <a:xfrm>
            <a:off x="2962656"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2944368" y="3017520"/>
            <a:ext cx="1737360" cy="640080"/>
          </a:xfrm>
          <a:prstGeom prst="rect">
            <a:avLst/>
          </a:prstGeom>
          <a:noFill/>
          <a:ln/>
        </p:spPr>
        <p:txBody>
          <a:bodyPr wrap="square" lIns="0" tIns="0" rIns="0" bIns="0" rtlCol="0" anchor="ctr"/>
          <a:lstStyle/>
          <a:p>
            <a:pPr indent="0" marL="0">
              <a:buNone/>
            </a:pPr>
            <a:r>
              <a:rPr lang="en-US" sz="2200" b="1" dirty="0">
                <a:solidFill>
                  <a:srgbClr val="16222E"/>
                </a:solidFill>
                <a:latin typeface="Cambria" pitchFamily="34" charset="0"/>
                <a:ea typeface="Cambria" pitchFamily="34" charset="-122"/>
                <a:cs typeface="Cambria" pitchFamily="34" charset="-120"/>
              </a:rPr>
              <a:t>317</a:t>
            </a:r>
            <a:endParaRPr lang="en-US" sz="2200" dirty="0"/>
          </a:p>
        </p:txBody>
      </p:sp>
      <p:sp>
        <p:nvSpPr>
          <p:cNvPr id="16" name="Text 14"/>
          <p:cNvSpPr/>
          <p:nvPr/>
        </p:nvSpPr>
        <p:spPr>
          <a:xfrm>
            <a:off x="2944368" y="3630168"/>
            <a:ext cx="1737360" cy="502920"/>
          </a:xfrm>
          <a:prstGeom prst="rect">
            <a:avLst/>
          </a:prstGeom>
          <a:noFill/>
          <a:ln/>
        </p:spPr>
        <p:txBody>
          <a:bodyPr wrap="square" lIns="0" tIns="0" rIns="0" bIns="0" rtlCol="0" anchor="ctr"/>
          <a:lstStyle/>
          <a:p>
            <a:pPr indent="0" marL="0">
              <a:buNone/>
            </a:pPr>
            <a:r>
              <a:rPr lang="en-US" sz="1150" b="1" dirty="0">
                <a:solidFill>
                  <a:srgbClr val="1E88E5"/>
                </a:solidFill>
                <a:latin typeface="Calibri" pitchFamily="34" charset="0"/>
                <a:ea typeface="Calibri" pitchFamily="34" charset="-122"/>
                <a:cs typeface="Calibri" pitchFamily="34" charset="-120"/>
              </a:rPr>
              <a:t>Delayed Flights</a:t>
            </a:r>
            <a:endParaRPr lang="en-US" sz="1150" dirty="0"/>
          </a:p>
        </p:txBody>
      </p:sp>
      <p:sp>
        <p:nvSpPr>
          <p:cNvPr id="17" name="Text 15"/>
          <p:cNvSpPr/>
          <p:nvPr/>
        </p:nvSpPr>
        <p:spPr>
          <a:xfrm>
            <a:off x="2944368" y="4142232"/>
            <a:ext cx="1737360" cy="1234440"/>
          </a:xfrm>
          <a:prstGeom prst="rect">
            <a:avLst/>
          </a:prstGeom>
          <a:noFill/>
          <a:ln/>
        </p:spPr>
        <p:txBody>
          <a:bodyPr wrap="square" lIns="0" tIns="0" rIns="0" bIns="0" rtlCol="0" anchor="ctr"/>
          <a:lstStyle/>
          <a:p>
            <a:pPr indent="0" marL="0">
              <a:lnSpc>
                <a:spcPct val="120000"/>
              </a:lnSpc>
              <a:buNone/>
            </a:pPr>
            <a:r>
              <a:rPr lang="en-US" sz="1000" dirty="0">
                <a:solidFill>
                  <a:srgbClr val="657079"/>
                </a:solidFill>
                <a:latin typeface="Calibri" pitchFamily="34" charset="0"/>
                <a:ea typeface="Calibri" pitchFamily="34" charset="-122"/>
                <a:cs typeface="Calibri" pitchFamily="34" charset="-120"/>
              </a:rPr>
              <a:t>Flights whose status is recorded as Delayed.</a:t>
            </a:r>
            <a:endParaRPr lang="en-US" sz="1000" dirty="0"/>
          </a:p>
        </p:txBody>
      </p:sp>
      <p:sp>
        <p:nvSpPr>
          <p:cNvPr id="18" name="Shape 16"/>
          <p:cNvSpPr/>
          <p:nvPr/>
        </p:nvSpPr>
        <p:spPr>
          <a:xfrm>
            <a:off x="5010912" y="2148840"/>
            <a:ext cx="2066544" cy="3383280"/>
          </a:xfrm>
          <a:prstGeom prst="roundRect">
            <a:avLst>
              <a:gd name="adj" fmla="val 5310"/>
            </a:avLst>
          </a:prstGeom>
          <a:solidFill>
            <a:srgbClr val="F6F8FA"/>
          </a:solidFill>
          <a:ln/>
          <a:effectLst>
            <a:outerShdw sx="100000" sy="100000" kx="0" ky="0" algn="bl" rotWithShape="0" blurRad="76200" dist="25400" dir="5400000">
              <a:srgbClr val="999999">
                <a:alpha val="25000"/>
              </a:srgbClr>
            </a:outerShdw>
          </a:effectLst>
        </p:spPr>
      </p:sp>
      <p:sp>
        <p:nvSpPr>
          <p:cNvPr id="19" name="Shape 17"/>
          <p:cNvSpPr/>
          <p:nvPr/>
        </p:nvSpPr>
        <p:spPr>
          <a:xfrm>
            <a:off x="5193792" y="2404872"/>
            <a:ext cx="420624" cy="420624"/>
          </a:xfrm>
          <a:prstGeom prst="ellipse">
            <a:avLst/>
          </a:prstGeom>
          <a:solidFill>
            <a:srgbClr val="1E88E5"/>
          </a:solidFill>
          <a:ln/>
        </p:spPr>
      </p:sp>
      <p:sp>
        <p:nvSpPr>
          <p:cNvPr id="20" name="Text 18"/>
          <p:cNvSpPr/>
          <p:nvPr/>
        </p:nvSpPr>
        <p:spPr>
          <a:xfrm>
            <a:off x="5193792"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p:nvPr/>
        </p:nvSpPr>
        <p:spPr>
          <a:xfrm>
            <a:off x="5175504" y="3017520"/>
            <a:ext cx="1737360" cy="640080"/>
          </a:xfrm>
          <a:prstGeom prst="rect">
            <a:avLst/>
          </a:prstGeom>
          <a:noFill/>
          <a:ln/>
        </p:spPr>
        <p:txBody>
          <a:bodyPr wrap="square" lIns="0" tIns="0" rIns="0" bIns="0" rtlCol="0" anchor="ctr"/>
          <a:lstStyle/>
          <a:p>
            <a:pPr indent="0" marL="0">
              <a:buNone/>
            </a:pPr>
            <a:r>
              <a:rPr lang="en-US" sz="2200" b="1" dirty="0">
                <a:solidFill>
                  <a:srgbClr val="16222E"/>
                </a:solidFill>
                <a:latin typeface="Cambria" pitchFamily="34" charset="0"/>
                <a:ea typeface="Cambria" pitchFamily="34" charset="-122"/>
                <a:cs typeface="Cambria" pitchFamily="34" charset="-120"/>
              </a:rPr>
              <a:t>33.8%</a:t>
            </a:r>
            <a:endParaRPr lang="en-US" sz="2200" dirty="0"/>
          </a:p>
        </p:txBody>
      </p:sp>
      <p:sp>
        <p:nvSpPr>
          <p:cNvPr id="22" name="Text 20"/>
          <p:cNvSpPr/>
          <p:nvPr/>
        </p:nvSpPr>
        <p:spPr>
          <a:xfrm>
            <a:off x="5175504" y="3630168"/>
            <a:ext cx="1737360" cy="502920"/>
          </a:xfrm>
          <a:prstGeom prst="rect">
            <a:avLst/>
          </a:prstGeom>
          <a:noFill/>
          <a:ln/>
        </p:spPr>
        <p:txBody>
          <a:bodyPr wrap="square" lIns="0" tIns="0" rIns="0" bIns="0" rtlCol="0" anchor="ctr"/>
          <a:lstStyle/>
          <a:p>
            <a:pPr indent="0" marL="0">
              <a:buNone/>
            </a:pPr>
            <a:r>
              <a:rPr lang="en-US" sz="1150" b="1" dirty="0">
                <a:solidFill>
                  <a:srgbClr val="1E88E5"/>
                </a:solidFill>
                <a:latin typeface="Calibri" pitchFamily="34" charset="0"/>
                <a:ea typeface="Calibri" pitchFamily="34" charset="-122"/>
                <a:cs typeface="Calibri" pitchFamily="34" charset="-120"/>
              </a:rPr>
              <a:t>On-Time %</a:t>
            </a:r>
            <a:endParaRPr lang="en-US" sz="1150" dirty="0"/>
          </a:p>
        </p:txBody>
      </p:sp>
      <p:sp>
        <p:nvSpPr>
          <p:cNvPr id="23" name="Text 21"/>
          <p:cNvSpPr/>
          <p:nvPr/>
        </p:nvSpPr>
        <p:spPr>
          <a:xfrm>
            <a:off x="5175504" y="4142232"/>
            <a:ext cx="1737360" cy="1234440"/>
          </a:xfrm>
          <a:prstGeom prst="rect">
            <a:avLst/>
          </a:prstGeom>
          <a:noFill/>
          <a:ln/>
        </p:spPr>
        <p:txBody>
          <a:bodyPr wrap="square" lIns="0" tIns="0" rIns="0" bIns="0" rtlCol="0" anchor="ctr"/>
          <a:lstStyle/>
          <a:p>
            <a:pPr indent="0" marL="0">
              <a:lnSpc>
                <a:spcPct val="120000"/>
              </a:lnSpc>
              <a:buNone/>
            </a:pPr>
            <a:r>
              <a:rPr lang="en-US" sz="1000" dirty="0">
                <a:solidFill>
                  <a:srgbClr val="657079"/>
                </a:solidFill>
                <a:latin typeface="Calibri" pitchFamily="34" charset="0"/>
                <a:ea typeface="Calibri" pitchFamily="34" charset="-122"/>
                <a:cs typeface="Calibri" pitchFamily="34" charset="-120"/>
              </a:rPr>
              <a:t>Share of flights that departed on schedule.</a:t>
            </a:r>
            <a:endParaRPr lang="en-US" sz="1000" dirty="0"/>
          </a:p>
        </p:txBody>
      </p:sp>
      <p:sp>
        <p:nvSpPr>
          <p:cNvPr id="24" name="Shape 22"/>
          <p:cNvSpPr/>
          <p:nvPr/>
        </p:nvSpPr>
        <p:spPr>
          <a:xfrm>
            <a:off x="7242048" y="2148840"/>
            <a:ext cx="2066544" cy="3383280"/>
          </a:xfrm>
          <a:prstGeom prst="roundRect">
            <a:avLst>
              <a:gd name="adj" fmla="val 5310"/>
            </a:avLst>
          </a:prstGeom>
          <a:solidFill>
            <a:srgbClr val="F6F8FA"/>
          </a:solidFill>
          <a:ln/>
          <a:effectLst>
            <a:outerShdw sx="100000" sy="100000" kx="0" ky="0" algn="bl" rotWithShape="0" blurRad="76200" dist="25400" dir="5400000">
              <a:srgbClr val="999999">
                <a:alpha val="25000"/>
              </a:srgbClr>
            </a:outerShdw>
          </a:effectLst>
        </p:spPr>
      </p:sp>
      <p:sp>
        <p:nvSpPr>
          <p:cNvPr id="25" name="Shape 23"/>
          <p:cNvSpPr/>
          <p:nvPr/>
        </p:nvSpPr>
        <p:spPr>
          <a:xfrm>
            <a:off x="7424928" y="2404872"/>
            <a:ext cx="420624" cy="420624"/>
          </a:xfrm>
          <a:prstGeom prst="ellipse">
            <a:avLst/>
          </a:prstGeom>
          <a:solidFill>
            <a:srgbClr val="1E88E5"/>
          </a:solidFill>
          <a:ln/>
        </p:spPr>
      </p:sp>
      <p:sp>
        <p:nvSpPr>
          <p:cNvPr id="26" name="Text 24"/>
          <p:cNvSpPr/>
          <p:nvPr/>
        </p:nvSpPr>
        <p:spPr>
          <a:xfrm>
            <a:off x="7424928"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p:nvPr/>
        </p:nvSpPr>
        <p:spPr>
          <a:xfrm>
            <a:off x="7406640" y="3017520"/>
            <a:ext cx="1737360" cy="640080"/>
          </a:xfrm>
          <a:prstGeom prst="rect">
            <a:avLst/>
          </a:prstGeom>
          <a:noFill/>
          <a:ln/>
        </p:spPr>
        <p:txBody>
          <a:bodyPr wrap="square" lIns="0" tIns="0" rIns="0" bIns="0" rtlCol="0" anchor="ctr"/>
          <a:lstStyle/>
          <a:p>
            <a:pPr indent="0" marL="0">
              <a:buNone/>
            </a:pPr>
            <a:r>
              <a:rPr lang="en-US" sz="2200" b="1" dirty="0">
                <a:solidFill>
                  <a:srgbClr val="16222E"/>
                </a:solidFill>
                <a:latin typeface="Cambria" pitchFamily="34" charset="0"/>
                <a:ea typeface="Cambria" pitchFamily="34" charset="-122"/>
                <a:cs typeface="Cambria" pitchFamily="34" charset="-120"/>
              </a:rPr>
              <a:t>23.65</a:t>
            </a:r>
            <a:endParaRPr lang="en-US" sz="2200" dirty="0"/>
          </a:p>
        </p:txBody>
      </p:sp>
      <p:sp>
        <p:nvSpPr>
          <p:cNvPr id="28" name="Text 26"/>
          <p:cNvSpPr/>
          <p:nvPr/>
        </p:nvSpPr>
        <p:spPr>
          <a:xfrm>
            <a:off x="7406640" y="3630168"/>
            <a:ext cx="1737360" cy="502920"/>
          </a:xfrm>
          <a:prstGeom prst="rect">
            <a:avLst/>
          </a:prstGeom>
          <a:noFill/>
          <a:ln/>
        </p:spPr>
        <p:txBody>
          <a:bodyPr wrap="square" lIns="0" tIns="0" rIns="0" bIns="0" rtlCol="0" anchor="ctr"/>
          <a:lstStyle/>
          <a:p>
            <a:pPr indent="0" marL="0">
              <a:buNone/>
            </a:pPr>
            <a:r>
              <a:rPr lang="en-US" sz="1150" b="1" dirty="0">
                <a:solidFill>
                  <a:srgbClr val="1E88E5"/>
                </a:solidFill>
                <a:latin typeface="Calibri" pitchFamily="34" charset="0"/>
                <a:ea typeface="Calibri" pitchFamily="34" charset="-122"/>
                <a:cs typeface="Calibri" pitchFamily="34" charset="-120"/>
              </a:rPr>
              <a:t>Average Delay (min)</a:t>
            </a:r>
            <a:endParaRPr lang="en-US" sz="1150" dirty="0"/>
          </a:p>
        </p:txBody>
      </p:sp>
      <p:sp>
        <p:nvSpPr>
          <p:cNvPr id="29" name="Text 27"/>
          <p:cNvSpPr/>
          <p:nvPr/>
        </p:nvSpPr>
        <p:spPr>
          <a:xfrm>
            <a:off x="7406640" y="4142232"/>
            <a:ext cx="1737360" cy="1234440"/>
          </a:xfrm>
          <a:prstGeom prst="rect">
            <a:avLst/>
          </a:prstGeom>
          <a:noFill/>
          <a:ln/>
        </p:spPr>
        <p:txBody>
          <a:bodyPr wrap="square" lIns="0" tIns="0" rIns="0" bIns="0" rtlCol="0" anchor="ctr"/>
          <a:lstStyle/>
          <a:p>
            <a:pPr indent="0" marL="0">
              <a:lnSpc>
                <a:spcPct val="120000"/>
              </a:lnSpc>
              <a:buNone/>
            </a:pPr>
            <a:r>
              <a:rPr lang="en-US" sz="1000" dirty="0">
                <a:solidFill>
                  <a:srgbClr val="657079"/>
                </a:solidFill>
                <a:latin typeface="Calibri" pitchFamily="34" charset="0"/>
                <a:ea typeface="Calibri" pitchFamily="34" charset="-122"/>
                <a:cs typeface="Calibri" pitchFamily="34" charset="-120"/>
              </a:rPr>
              <a:t>Mean delay in minutes across all flights.</a:t>
            </a:r>
            <a:endParaRPr lang="en-US" sz="1000" dirty="0"/>
          </a:p>
        </p:txBody>
      </p:sp>
      <p:sp>
        <p:nvSpPr>
          <p:cNvPr id="30" name="Shape 28"/>
          <p:cNvSpPr/>
          <p:nvPr/>
        </p:nvSpPr>
        <p:spPr>
          <a:xfrm>
            <a:off x="9473184" y="2148840"/>
            <a:ext cx="2066544" cy="3383280"/>
          </a:xfrm>
          <a:prstGeom prst="roundRect">
            <a:avLst>
              <a:gd name="adj" fmla="val 5310"/>
            </a:avLst>
          </a:prstGeom>
          <a:solidFill>
            <a:srgbClr val="F6F8FA"/>
          </a:solidFill>
          <a:ln/>
          <a:effectLst>
            <a:outerShdw sx="100000" sy="100000" kx="0" ky="0" algn="bl" rotWithShape="0" blurRad="76200" dist="25400" dir="5400000">
              <a:srgbClr val="999999">
                <a:alpha val="25000"/>
              </a:srgbClr>
            </a:outerShdw>
          </a:effectLst>
        </p:spPr>
      </p:sp>
      <p:sp>
        <p:nvSpPr>
          <p:cNvPr id="31" name="Shape 29"/>
          <p:cNvSpPr/>
          <p:nvPr/>
        </p:nvSpPr>
        <p:spPr>
          <a:xfrm>
            <a:off x="9656064" y="2404872"/>
            <a:ext cx="420624" cy="420624"/>
          </a:xfrm>
          <a:prstGeom prst="ellipse">
            <a:avLst/>
          </a:prstGeom>
          <a:solidFill>
            <a:srgbClr val="F5A623"/>
          </a:solidFill>
          <a:ln/>
        </p:spPr>
      </p:sp>
      <p:sp>
        <p:nvSpPr>
          <p:cNvPr id="32" name="Text 30"/>
          <p:cNvSpPr/>
          <p:nvPr/>
        </p:nvSpPr>
        <p:spPr>
          <a:xfrm>
            <a:off x="9656064"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3" name="Text 31"/>
          <p:cNvSpPr/>
          <p:nvPr/>
        </p:nvSpPr>
        <p:spPr>
          <a:xfrm>
            <a:off x="9637776" y="3017520"/>
            <a:ext cx="1737360" cy="640080"/>
          </a:xfrm>
          <a:prstGeom prst="rect">
            <a:avLst/>
          </a:prstGeom>
          <a:noFill/>
          <a:ln/>
        </p:spPr>
        <p:txBody>
          <a:bodyPr wrap="square" lIns="0" tIns="0" rIns="0" bIns="0" rtlCol="0" anchor="ctr"/>
          <a:lstStyle/>
          <a:p>
            <a:pPr indent="0" marL="0">
              <a:buNone/>
            </a:pPr>
            <a:r>
              <a:rPr lang="en-US" sz="2200" b="1" dirty="0">
                <a:solidFill>
                  <a:srgbClr val="16222E"/>
                </a:solidFill>
                <a:latin typeface="Cambria" pitchFamily="34" charset="0"/>
                <a:ea typeface="Cambria" pitchFamily="34" charset="-122"/>
                <a:cs typeface="Cambria" pitchFamily="34" charset="-120"/>
              </a:rPr>
              <a:t>14</a:t>
            </a:r>
            <a:endParaRPr lang="en-US" sz="2200" dirty="0"/>
          </a:p>
        </p:txBody>
      </p:sp>
      <p:sp>
        <p:nvSpPr>
          <p:cNvPr id="34" name="Text 32"/>
          <p:cNvSpPr/>
          <p:nvPr/>
        </p:nvSpPr>
        <p:spPr>
          <a:xfrm>
            <a:off x="9637776" y="3630168"/>
            <a:ext cx="1737360" cy="502920"/>
          </a:xfrm>
          <a:prstGeom prst="rect">
            <a:avLst/>
          </a:prstGeom>
          <a:noFill/>
          <a:ln/>
        </p:spPr>
        <p:txBody>
          <a:bodyPr wrap="square" lIns="0" tIns="0" rIns="0" bIns="0" rtlCol="0" anchor="ctr"/>
          <a:lstStyle/>
          <a:p>
            <a:pPr indent="0" marL="0">
              <a:buNone/>
            </a:pPr>
            <a:r>
              <a:rPr lang="en-US" sz="1150" b="1" dirty="0">
                <a:solidFill>
                  <a:srgbClr val="1E88E5"/>
                </a:solidFill>
                <a:latin typeface="Calibri" pitchFamily="34" charset="0"/>
                <a:ea typeface="Calibri" pitchFamily="34" charset="-122"/>
                <a:cs typeface="Calibri" pitchFamily="34" charset="-120"/>
              </a:rPr>
              <a:t>Cancelled Flights</a:t>
            </a:r>
            <a:endParaRPr lang="en-US" sz="1150" dirty="0"/>
          </a:p>
        </p:txBody>
      </p:sp>
      <p:sp>
        <p:nvSpPr>
          <p:cNvPr id="35" name="Text 33"/>
          <p:cNvSpPr/>
          <p:nvPr/>
        </p:nvSpPr>
        <p:spPr>
          <a:xfrm>
            <a:off x="9637776" y="4142232"/>
            <a:ext cx="1737360" cy="1234440"/>
          </a:xfrm>
          <a:prstGeom prst="rect">
            <a:avLst/>
          </a:prstGeom>
          <a:noFill/>
          <a:ln/>
        </p:spPr>
        <p:txBody>
          <a:bodyPr wrap="square" lIns="0" tIns="0" rIns="0" bIns="0" rtlCol="0" anchor="ctr"/>
          <a:lstStyle/>
          <a:p>
            <a:pPr indent="0" marL="0">
              <a:lnSpc>
                <a:spcPct val="120000"/>
              </a:lnSpc>
              <a:buNone/>
            </a:pPr>
            <a:r>
              <a:rPr lang="en-US" sz="1000" dirty="0">
                <a:solidFill>
                  <a:srgbClr val="657079"/>
                </a:solidFill>
                <a:latin typeface="Calibri" pitchFamily="34" charset="0"/>
                <a:ea typeface="Calibri" pitchFamily="34" charset="-122"/>
                <a:cs typeface="Calibri" pitchFamily="34" charset="-120"/>
              </a:rPr>
              <a:t>Flights recorded as Cancelled.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01 · CLUSTERED COLUMN · FLIGHT DELAY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Flights by Airline</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03 / 10</a:t>
            </a:r>
            <a:endParaRPr lang="en-US" sz="900" dirty="0"/>
          </a:p>
        </p:txBody>
      </p:sp>
      <p:graphicFrame>
        <p:nvGraphicFramePr>
          <p:cNvPr id="5" name="Chart 0" descr=""/>
          <p:cNvGraphicFramePr/>
          <p:nvPr/>
        </p:nvGraphicFramePr>
        <p:xfrm>
          <a:off x="548640" y="1234440"/>
          <a:ext cx="7040880" cy="5074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18120" y="128016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818120" y="1645920"/>
            <a:ext cx="38404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Each column is an airline; height is the total number of flights that airline operated in the dataset, counted by unique Flight_ID.</a:t>
            </a:r>
            <a:endParaRPr lang="en-US" sz="1200" dirty="0"/>
          </a:p>
        </p:txBody>
      </p:sp>
      <p:sp>
        <p:nvSpPr>
          <p:cNvPr id="8" name="Shape 5"/>
          <p:cNvSpPr/>
          <p:nvPr/>
        </p:nvSpPr>
        <p:spPr>
          <a:xfrm>
            <a:off x="7818120" y="2788920"/>
            <a:ext cx="3840480" cy="0"/>
          </a:xfrm>
          <a:prstGeom prst="line">
            <a:avLst/>
          </a:prstGeom>
          <a:noFill/>
          <a:ln w="12700">
            <a:solidFill>
              <a:srgbClr val="E4E9ED"/>
            </a:solidFill>
            <a:prstDash val="solid"/>
          </a:ln>
        </p:spPr>
      </p:sp>
      <p:sp>
        <p:nvSpPr>
          <p:cNvPr id="9" name="Text 6"/>
          <p:cNvSpPr/>
          <p:nvPr/>
        </p:nvSpPr>
        <p:spPr>
          <a:xfrm>
            <a:off x="7818120" y="292608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818120" y="3291840"/>
            <a:ext cx="38404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IndiGo dominates volume with 171 flights — more than double the next closest airline. That skew matters when interpreting the delay charts that follow, since IndiGo's numbers carry more statistical weight.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02 · CLUSTERED BAR · FLIGHT DELAY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Average Delay by Airline</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04 / 10</a:t>
            </a:r>
            <a:endParaRPr lang="en-US" sz="900" dirty="0"/>
          </a:p>
        </p:txBody>
      </p:sp>
      <p:graphicFrame>
        <p:nvGraphicFramePr>
          <p:cNvPr id="5" name="Chart 0" descr=""/>
          <p:cNvGraphicFramePr/>
          <p:nvPr/>
        </p:nvGraphicFramePr>
        <p:xfrm>
          <a:off x="548640" y="1234440"/>
          <a:ext cx="7040880" cy="5074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18120" y="128016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818120" y="1645920"/>
            <a:ext cx="38404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Bars are sorted from highest to lowest average delay. Each bar averages the Delay_Minutes field across every flight operated by that airline.</a:t>
            </a:r>
            <a:endParaRPr lang="en-US" sz="1200" dirty="0"/>
          </a:p>
        </p:txBody>
      </p:sp>
      <p:sp>
        <p:nvSpPr>
          <p:cNvPr id="8" name="Shape 5"/>
          <p:cNvSpPr/>
          <p:nvPr/>
        </p:nvSpPr>
        <p:spPr>
          <a:xfrm>
            <a:off x="7818120" y="2788920"/>
            <a:ext cx="3840480" cy="0"/>
          </a:xfrm>
          <a:prstGeom prst="line">
            <a:avLst/>
          </a:prstGeom>
          <a:noFill/>
          <a:ln w="12700">
            <a:solidFill>
              <a:srgbClr val="E4E9ED"/>
            </a:solidFill>
            <a:prstDash val="solid"/>
          </a:ln>
        </p:spPr>
      </p:sp>
      <p:sp>
        <p:nvSpPr>
          <p:cNvPr id="9" name="Text 6"/>
          <p:cNvSpPr/>
          <p:nvPr/>
        </p:nvSpPr>
        <p:spPr>
          <a:xfrm>
            <a:off x="7818120" y="292608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818120" y="3291840"/>
            <a:ext cx="38404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Air India Express, SpiceJet, and Air India cluster around 27–28 minutes average delay, while Vistara and IndiGo run noticeably tighter schedules near 20 minutes — a clear operational performance gap between carriers.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03 · LINE CHART · TIME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Monthly Average Delay Trend</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05 / 10</a:t>
            </a:r>
            <a:endParaRPr lang="en-US" sz="900" dirty="0"/>
          </a:p>
        </p:txBody>
      </p:sp>
      <p:graphicFrame>
        <p:nvGraphicFramePr>
          <p:cNvPr id="5" name="Chart 0" descr=""/>
          <p:cNvGraphicFramePr/>
          <p:nvPr/>
        </p:nvGraphicFramePr>
        <p:xfrm>
          <a:off x="548640" y="1234440"/>
          <a:ext cx="7040880" cy="5074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18120" y="128016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818120" y="1645920"/>
            <a:ext cx="38404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The line plots average delay in minutes for each month from January through June, using the Date field's built-in month hierarchy.</a:t>
            </a:r>
            <a:endParaRPr lang="en-US" sz="1200" dirty="0"/>
          </a:p>
        </p:txBody>
      </p:sp>
      <p:sp>
        <p:nvSpPr>
          <p:cNvPr id="8" name="Shape 5"/>
          <p:cNvSpPr/>
          <p:nvPr/>
        </p:nvSpPr>
        <p:spPr>
          <a:xfrm>
            <a:off x="7818120" y="2788920"/>
            <a:ext cx="3840480" cy="0"/>
          </a:xfrm>
          <a:prstGeom prst="line">
            <a:avLst/>
          </a:prstGeom>
          <a:noFill/>
          <a:ln w="12700">
            <a:solidFill>
              <a:srgbClr val="E4E9ED"/>
            </a:solidFill>
            <a:prstDash val="solid"/>
          </a:ln>
        </p:spPr>
      </p:sp>
      <p:sp>
        <p:nvSpPr>
          <p:cNvPr id="9" name="Text 6"/>
          <p:cNvSpPr/>
          <p:nvPr/>
        </p:nvSpPr>
        <p:spPr>
          <a:xfrm>
            <a:off x="7818120" y="292608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818120" y="3291840"/>
            <a:ext cx="38404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Delay averages stay in a fairly narrow 21–25 minute band across the first five months, then drop noticeably in June — worth checking against seasonal traffic or weather patterns for that month.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04 · CLUSTERED BAR · AIRPORT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Average Delay by Airport</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06 / 10</a:t>
            </a:r>
            <a:endParaRPr lang="en-US" sz="900" dirty="0"/>
          </a:p>
        </p:txBody>
      </p:sp>
      <p:graphicFrame>
        <p:nvGraphicFramePr>
          <p:cNvPr id="5" name="Chart 0" descr=""/>
          <p:cNvGraphicFramePr/>
          <p:nvPr/>
        </p:nvGraphicFramePr>
        <p:xfrm>
          <a:off x="548640" y="1234440"/>
          <a:ext cx="7040880" cy="5074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18120" y="128016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818120" y="1645920"/>
            <a:ext cx="38404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Each bar is an origin airport (10 total); length is the average delay, in minutes, for flights departing from that airport.</a:t>
            </a:r>
            <a:endParaRPr lang="en-US" sz="1200" dirty="0"/>
          </a:p>
        </p:txBody>
      </p:sp>
      <p:sp>
        <p:nvSpPr>
          <p:cNvPr id="8" name="Shape 5"/>
          <p:cNvSpPr/>
          <p:nvPr/>
        </p:nvSpPr>
        <p:spPr>
          <a:xfrm>
            <a:off x="7818120" y="2788920"/>
            <a:ext cx="3840480" cy="0"/>
          </a:xfrm>
          <a:prstGeom prst="line">
            <a:avLst/>
          </a:prstGeom>
          <a:noFill/>
          <a:ln w="12700">
            <a:solidFill>
              <a:srgbClr val="E4E9ED"/>
            </a:solidFill>
            <a:prstDash val="solid"/>
          </a:ln>
        </p:spPr>
      </p:sp>
      <p:sp>
        <p:nvSpPr>
          <p:cNvPr id="9" name="Text 6"/>
          <p:cNvSpPr/>
          <p:nvPr/>
        </p:nvSpPr>
        <p:spPr>
          <a:xfrm>
            <a:off x="7818120" y="292608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818120" y="3291840"/>
            <a:ext cx="38404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Mumbai, Jaipur, and Kolkata post the highest average delays (26–28 minutes), while Ahmedabad runs the smoothest at ~20 minutes — useful for pinpointing which airports need operational attention.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05 · CLUSTERED COLUMN · FLIGHT HOUR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Average Delay by Flight Hour</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07 / 10</a:t>
            </a:r>
            <a:endParaRPr lang="en-US" sz="900" dirty="0"/>
          </a:p>
        </p:txBody>
      </p:sp>
      <p:graphicFrame>
        <p:nvGraphicFramePr>
          <p:cNvPr id="5" name="Chart 0" descr=""/>
          <p:cNvGraphicFramePr/>
          <p:nvPr/>
        </p:nvGraphicFramePr>
        <p:xfrm>
          <a:off x="548640" y="1234440"/>
          <a:ext cx="7040880" cy="5074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818120" y="128016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818120" y="1645920"/>
            <a:ext cx="38404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Each column is a departure hour of day (6:00–22:00); height is the average delay, in minutes, for flights that departed in that hour.</a:t>
            </a:r>
            <a:endParaRPr lang="en-US" sz="1200" dirty="0"/>
          </a:p>
        </p:txBody>
      </p:sp>
      <p:sp>
        <p:nvSpPr>
          <p:cNvPr id="8" name="Shape 5"/>
          <p:cNvSpPr/>
          <p:nvPr/>
        </p:nvSpPr>
        <p:spPr>
          <a:xfrm>
            <a:off x="7818120" y="2788920"/>
            <a:ext cx="3840480" cy="0"/>
          </a:xfrm>
          <a:prstGeom prst="line">
            <a:avLst/>
          </a:prstGeom>
          <a:noFill/>
          <a:ln w="12700">
            <a:solidFill>
              <a:srgbClr val="E4E9ED"/>
            </a:solidFill>
            <a:prstDash val="solid"/>
          </a:ln>
        </p:spPr>
      </p:sp>
      <p:sp>
        <p:nvSpPr>
          <p:cNvPr id="9" name="Text 6"/>
          <p:cNvSpPr/>
          <p:nvPr/>
        </p:nvSpPr>
        <p:spPr>
          <a:xfrm>
            <a:off x="7818120" y="2926080"/>
            <a:ext cx="38404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818120" y="3291840"/>
            <a:ext cx="38404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Delays climb sharply in the evening block — 18:00 to 21:00 averages 31–34 minutes, well above the 13–28 minute range seen earlier in the day — a classic sign of delays compounding as the day's schedule falls behind.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CHART 06 · DONUT · FLIGHT STATUS ANALYSIS PAGE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Flight Status Distribution</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08 / 10</a:t>
            </a:r>
            <a:endParaRPr lang="en-US" sz="900" dirty="0"/>
          </a:p>
        </p:txBody>
      </p:sp>
      <p:graphicFrame>
        <p:nvGraphicFramePr>
          <p:cNvPr id="5" name="Chart 0" descr=""/>
          <p:cNvGraphicFramePr/>
          <p:nvPr/>
        </p:nvGraphicFramePr>
        <p:xfrm>
          <a:off x="822960" y="1234440"/>
          <a:ext cx="5852160" cy="5029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15200" y="1280160"/>
            <a:ext cx="42976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How to read it</a:t>
            </a:r>
            <a:endParaRPr lang="en-US" sz="1300" dirty="0"/>
          </a:p>
        </p:txBody>
      </p:sp>
      <p:sp>
        <p:nvSpPr>
          <p:cNvPr id="7" name="Text 4"/>
          <p:cNvSpPr/>
          <p:nvPr/>
        </p:nvSpPr>
        <p:spPr>
          <a:xfrm>
            <a:off x="7315200" y="1645920"/>
            <a:ext cx="4297680" cy="10515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Each slice is a flight status. Slice size is that status's share of all 500 flights: Delayed, On-Time, or Cancelled.</a:t>
            </a:r>
            <a:endParaRPr lang="en-US" sz="1200" dirty="0"/>
          </a:p>
        </p:txBody>
      </p:sp>
      <p:sp>
        <p:nvSpPr>
          <p:cNvPr id="8" name="Shape 5"/>
          <p:cNvSpPr/>
          <p:nvPr/>
        </p:nvSpPr>
        <p:spPr>
          <a:xfrm>
            <a:off x="7315200" y="2788920"/>
            <a:ext cx="4297680" cy="0"/>
          </a:xfrm>
          <a:prstGeom prst="line">
            <a:avLst/>
          </a:prstGeom>
          <a:noFill/>
          <a:ln w="12700">
            <a:solidFill>
              <a:srgbClr val="E4E9ED"/>
            </a:solidFill>
            <a:prstDash val="solid"/>
          </a:ln>
        </p:spPr>
      </p:sp>
      <p:sp>
        <p:nvSpPr>
          <p:cNvPr id="9" name="Text 6"/>
          <p:cNvSpPr/>
          <p:nvPr/>
        </p:nvSpPr>
        <p:spPr>
          <a:xfrm>
            <a:off x="7315200" y="2926080"/>
            <a:ext cx="4297680" cy="32004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Why it matters</a:t>
            </a:r>
            <a:endParaRPr lang="en-US" sz="1300" dirty="0"/>
          </a:p>
        </p:txBody>
      </p:sp>
      <p:sp>
        <p:nvSpPr>
          <p:cNvPr id="10" name="Text 7"/>
          <p:cNvSpPr/>
          <p:nvPr/>
        </p:nvSpPr>
        <p:spPr>
          <a:xfrm>
            <a:off x="7315200" y="3291840"/>
            <a:ext cx="4297680" cy="1737360"/>
          </a:xfrm>
          <a:prstGeom prst="rect">
            <a:avLst/>
          </a:prstGeom>
          <a:noFill/>
          <a:ln/>
        </p:spPr>
        <p:txBody>
          <a:bodyPr wrap="square" lIns="0" tIns="0" rIns="0" bIns="0" rtlCol="0" anchor="ctr"/>
          <a:lstStyle/>
          <a:p>
            <a:pPr indent="0" marL="0">
              <a:lnSpc>
                <a:spcPct val="125000"/>
              </a:lnSpc>
              <a:buNone/>
            </a:pPr>
            <a:r>
              <a:rPr lang="en-US" sz="1200" dirty="0">
                <a:solidFill>
                  <a:srgbClr val="657079"/>
                </a:solidFill>
                <a:latin typeface="Calibri" pitchFamily="34" charset="0"/>
                <a:ea typeface="Calibri" pitchFamily="34" charset="-122"/>
                <a:cs typeface="Calibri" pitchFamily="34" charset="-120"/>
              </a:rPr>
              <a:t>Delayed flights make up 63% of the dataset — nearly two in three flights — versus just 34% on-time and under 3% cancelled. Delay, not cancellation, is clearly the dominant operational issue here.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1E88E5"/>
                </a:solidFill>
                <a:latin typeface="Calibri" pitchFamily="34" charset="0"/>
                <a:ea typeface="Calibri" pitchFamily="34" charset="-122"/>
                <a:cs typeface="Calibri" pitchFamily="34" charset="-120"/>
              </a:rPr>
              <a:t>FULL VIEW · 6 REPORT PAGES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Complete Dashboard</a:t>
            </a:r>
            <a:endParaRPr lang="en-US" sz="3000" dirty="0"/>
          </a:p>
        </p:txBody>
      </p:sp>
      <p:sp>
        <p:nvSpPr>
          <p:cNvPr id="4" name="Text 2"/>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09 / 10</a:t>
            </a:r>
            <a:endParaRPr lang="en-US" sz="900" dirty="0"/>
          </a:p>
        </p:txBody>
      </p:sp>
      <p:sp>
        <p:nvSpPr>
          <p:cNvPr id="5" name="Text 3"/>
          <p:cNvSpPr/>
          <p:nvPr/>
        </p:nvSpPr>
        <p:spPr>
          <a:xfrm>
            <a:off x="548640" y="1188720"/>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57079"/>
                </a:solidFill>
                <a:latin typeface="Calibri" pitchFamily="34" charset="0"/>
                <a:ea typeface="Calibri" pitchFamily="34" charset="-122"/>
                <a:cs typeface="Calibri" pitchFamily="34" charset="-120"/>
              </a:rPr>
              <a:t>The live Power BI report spans six pages — Overview, Delay Analysis, Time Analysis, Airport Analysis, Flight Hour Analysis, and Status Analysis — each filterable by the Airline, Origin, and Flight Status slicers.</a:t>
            </a:r>
            <a:endParaRPr lang="en-US" sz="1300" dirty="0"/>
          </a:p>
        </p:txBody>
      </p:sp>
      <p:sp>
        <p:nvSpPr>
          <p:cNvPr id="6" name="Shape 4"/>
          <p:cNvSpPr/>
          <p:nvPr/>
        </p:nvSpPr>
        <p:spPr>
          <a:xfrm>
            <a:off x="548640" y="18745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7" name="Shape 5"/>
          <p:cNvSpPr/>
          <p:nvPr/>
        </p:nvSpPr>
        <p:spPr>
          <a:xfrm>
            <a:off x="548640" y="1874520"/>
            <a:ext cx="73152" cy="1600200"/>
          </a:xfrm>
          <a:prstGeom prst="rect">
            <a:avLst/>
          </a:prstGeom>
          <a:solidFill>
            <a:srgbClr val="F5A623"/>
          </a:solidFill>
          <a:ln/>
        </p:spPr>
      </p:sp>
      <p:sp>
        <p:nvSpPr>
          <p:cNvPr id="8" name="Text 6"/>
          <p:cNvSpPr/>
          <p:nvPr/>
        </p:nvSpPr>
        <p:spPr>
          <a:xfrm>
            <a:off x="804672" y="20208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1</a:t>
            </a:r>
            <a:endParaRPr lang="en-US" sz="1000" dirty="0"/>
          </a:p>
        </p:txBody>
      </p:sp>
      <p:sp>
        <p:nvSpPr>
          <p:cNvPr id="9" name="Text 7"/>
          <p:cNvSpPr/>
          <p:nvPr/>
        </p:nvSpPr>
        <p:spPr>
          <a:xfrm>
            <a:off x="804672" y="23134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Flight Overview</a:t>
            </a:r>
            <a:endParaRPr lang="en-US" sz="1600" dirty="0"/>
          </a:p>
        </p:txBody>
      </p:sp>
      <p:sp>
        <p:nvSpPr>
          <p:cNvPr id="10" name="Text 8"/>
          <p:cNvSpPr/>
          <p:nvPr/>
        </p:nvSpPr>
        <p:spPr>
          <a:xfrm>
            <a:off x="804672" y="27889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5 KPI cards + Airline / Origin / Status slicers</a:t>
            </a:r>
            <a:endParaRPr lang="en-US" sz="1050" dirty="0"/>
          </a:p>
        </p:txBody>
      </p:sp>
      <p:sp>
        <p:nvSpPr>
          <p:cNvPr id="11" name="Shape 9"/>
          <p:cNvSpPr/>
          <p:nvPr/>
        </p:nvSpPr>
        <p:spPr>
          <a:xfrm>
            <a:off x="4343400" y="18745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12" name="Shape 10"/>
          <p:cNvSpPr/>
          <p:nvPr/>
        </p:nvSpPr>
        <p:spPr>
          <a:xfrm>
            <a:off x="4343400" y="1874520"/>
            <a:ext cx="73152" cy="1600200"/>
          </a:xfrm>
          <a:prstGeom prst="rect">
            <a:avLst/>
          </a:prstGeom>
          <a:solidFill>
            <a:srgbClr val="F5A623"/>
          </a:solidFill>
          <a:ln/>
        </p:spPr>
      </p:sp>
      <p:sp>
        <p:nvSpPr>
          <p:cNvPr id="13" name="Text 11"/>
          <p:cNvSpPr/>
          <p:nvPr/>
        </p:nvSpPr>
        <p:spPr>
          <a:xfrm>
            <a:off x="4599432" y="20208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2</a:t>
            </a:r>
            <a:endParaRPr lang="en-US" sz="1000" dirty="0"/>
          </a:p>
        </p:txBody>
      </p:sp>
      <p:sp>
        <p:nvSpPr>
          <p:cNvPr id="14" name="Text 12"/>
          <p:cNvSpPr/>
          <p:nvPr/>
        </p:nvSpPr>
        <p:spPr>
          <a:xfrm>
            <a:off x="4599432" y="23134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Flight Delay Analysis</a:t>
            </a:r>
            <a:endParaRPr lang="en-US" sz="1600" dirty="0"/>
          </a:p>
        </p:txBody>
      </p:sp>
      <p:sp>
        <p:nvSpPr>
          <p:cNvPr id="15" name="Text 13"/>
          <p:cNvSpPr/>
          <p:nvPr/>
        </p:nvSpPr>
        <p:spPr>
          <a:xfrm>
            <a:off x="4599432" y="27889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Flights by Airline · Avg Delay by Airline</a:t>
            </a:r>
            <a:endParaRPr lang="en-US" sz="1050" dirty="0"/>
          </a:p>
        </p:txBody>
      </p:sp>
      <p:sp>
        <p:nvSpPr>
          <p:cNvPr id="16" name="Shape 14"/>
          <p:cNvSpPr/>
          <p:nvPr/>
        </p:nvSpPr>
        <p:spPr>
          <a:xfrm>
            <a:off x="8138160" y="18745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17" name="Shape 15"/>
          <p:cNvSpPr/>
          <p:nvPr/>
        </p:nvSpPr>
        <p:spPr>
          <a:xfrm>
            <a:off x="8138160" y="1874520"/>
            <a:ext cx="73152" cy="1600200"/>
          </a:xfrm>
          <a:prstGeom prst="rect">
            <a:avLst/>
          </a:prstGeom>
          <a:solidFill>
            <a:srgbClr val="F5A623"/>
          </a:solidFill>
          <a:ln/>
        </p:spPr>
      </p:sp>
      <p:sp>
        <p:nvSpPr>
          <p:cNvPr id="18" name="Text 16"/>
          <p:cNvSpPr/>
          <p:nvPr/>
        </p:nvSpPr>
        <p:spPr>
          <a:xfrm>
            <a:off x="8394192" y="20208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3</a:t>
            </a:r>
            <a:endParaRPr lang="en-US" sz="1000" dirty="0"/>
          </a:p>
        </p:txBody>
      </p:sp>
      <p:sp>
        <p:nvSpPr>
          <p:cNvPr id="19" name="Text 17"/>
          <p:cNvSpPr/>
          <p:nvPr/>
        </p:nvSpPr>
        <p:spPr>
          <a:xfrm>
            <a:off x="8394192" y="23134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Time Analysis</a:t>
            </a:r>
            <a:endParaRPr lang="en-US" sz="1600" dirty="0"/>
          </a:p>
        </p:txBody>
      </p:sp>
      <p:sp>
        <p:nvSpPr>
          <p:cNvPr id="20" name="Text 18"/>
          <p:cNvSpPr/>
          <p:nvPr/>
        </p:nvSpPr>
        <p:spPr>
          <a:xfrm>
            <a:off x="8394192" y="27889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Monthly Average Delay Trend</a:t>
            </a:r>
            <a:endParaRPr lang="en-US" sz="1050" dirty="0"/>
          </a:p>
        </p:txBody>
      </p:sp>
      <p:sp>
        <p:nvSpPr>
          <p:cNvPr id="21" name="Shape 19"/>
          <p:cNvSpPr/>
          <p:nvPr/>
        </p:nvSpPr>
        <p:spPr>
          <a:xfrm>
            <a:off x="548640" y="37033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22" name="Shape 20"/>
          <p:cNvSpPr/>
          <p:nvPr/>
        </p:nvSpPr>
        <p:spPr>
          <a:xfrm>
            <a:off x="548640" y="3703320"/>
            <a:ext cx="73152" cy="1600200"/>
          </a:xfrm>
          <a:prstGeom prst="rect">
            <a:avLst/>
          </a:prstGeom>
          <a:solidFill>
            <a:srgbClr val="F5A623"/>
          </a:solidFill>
          <a:ln/>
        </p:spPr>
      </p:sp>
      <p:sp>
        <p:nvSpPr>
          <p:cNvPr id="23" name="Text 21"/>
          <p:cNvSpPr/>
          <p:nvPr/>
        </p:nvSpPr>
        <p:spPr>
          <a:xfrm>
            <a:off x="804672" y="38496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4</a:t>
            </a:r>
            <a:endParaRPr lang="en-US" sz="1000" dirty="0"/>
          </a:p>
        </p:txBody>
      </p:sp>
      <p:sp>
        <p:nvSpPr>
          <p:cNvPr id="24" name="Text 22"/>
          <p:cNvSpPr/>
          <p:nvPr/>
        </p:nvSpPr>
        <p:spPr>
          <a:xfrm>
            <a:off x="804672" y="41422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Airport Analysis</a:t>
            </a:r>
            <a:endParaRPr lang="en-US" sz="1600" dirty="0"/>
          </a:p>
        </p:txBody>
      </p:sp>
      <p:sp>
        <p:nvSpPr>
          <p:cNvPr id="25" name="Text 23"/>
          <p:cNvSpPr/>
          <p:nvPr/>
        </p:nvSpPr>
        <p:spPr>
          <a:xfrm>
            <a:off x="804672" y="46177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Average Delay by Airport</a:t>
            </a:r>
            <a:endParaRPr lang="en-US" sz="1050" dirty="0"/>
          </a:p>
        </p:txBody>
      </p:sp>
      <p:sp>
        <p:nvSpPr>
          <p:cNvPr id="26" name="Shape 24"/>
          <p:cNvSpPr/>
          <p:nvPr/>
        </p:nvSpPr>
        <p:spPr>
          <a:xfrm>
            <a:off x="4343400" y="37033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27" name="Shape 25"/>
          <p:cNvSpPr/>
          <p:nvPr/>
        </p:nvSpPr>
        <p:spPr>
          <a:xfrm>
            <a:off x="4343400" y="3703320"/>
            <a:ext cx="73152" cy="1600200"/>
          </a:xfrm>
          <a:prstGeom prst="rect">
            <a:avLst/>
          </a:prstGeom>
          <a:solidFill>
            <a:srgbClr val="F5A623"/>
          </a:solidFill>
          <a:ln/>
        </p:spPr>
      </p:sp>
      <p:sp>
        <p:nvSpPr>
          <p:cNvPr id="28" name="Text 26"/>
          <p:cNvSpPr/>
          <p:nvPr/>
        </p:nvSpPr>
        <p:spPr>
          <a:xfrm>
            <a:off x="4599432" y="38496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5</a:t>
            </a:r>
            <a:endParaRPr lang="en-US" sz="1000" dirty="0"/>
          </a:p>
        </p:txBody>
      </p:sp>
      <p:sp>
        <p:nvSpPr>
          <p:cNvPr id="29" name="Text 27"/>
          <p:cNvSpPr/>
          <p:nvPr/>
        </p:nvSpPr>
        <p:spPr>
          <a:xfrm>
            <a:off x="4599432" y="41422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Flight Hour Analysis</a:t>
            </a:r>
            <a:endParaRPr lang="en-US" sz="1600" dirty="0"/>
          </a:p>
        </p:txBody>
      </p:sp>
      <p:sp>
        <p:nvSpPr>
          <p:cNvPr id="30" name="Text 28"/>
          <p:cNvSpPr/>
          <p:nvPr/>
        </p:nvSpPr>
        <p:spPr>
          <a:xfrm>
            <a:off x="4599432" y="46177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Average Delay by Flight Hour</a:t>
            </a:r>
            <a:endParaRPr lang="en-US" sz="1050" dirty="0"/>
          </a:p>
        </p:txBody>
      </p:sp>
      <p:sp>
        <p:nvSpPr>
          <p:cNvPr id="31" name="Shape 29"/>
          <p:cNvSpPr/>
          <p:nvPr/>
        </p:nvSpPr>
        <p:spPr>
          <a:xfrm>
            <a:off x="8138160" y="3703320"/>
            <a:ext cx="3566160" cy="1600200"/>
          </a:xfrm>
          <a:prstGeom prst="roundRect">
            <a:avLst>
              <a:gd name="adj" fmla="val 4571"/>
            </a:avLst>
          </a:prstGeom>
          <a:solidFill>
            <a:srgbClr val="0B1E33"/>
          </a:solidFill>
          <a:ln/>
          <a:effectLst>
            <a:outerShdw sx="100000" sy="100000" kx="0" ky="0" algn="bl" rotWithShape="0" blurRad="63500" dist="25400" dir="5400000">
              <a:srgbClr val="999999">
                <a:alpha val="20000"/>
              </a:srgbClr>
            </a:outerShdw>
          </a:effectLst>
        </p:spPr>
      </p:sp>
      <p:sp>
        <p:nvSpPr>
          <p:cNvPr id="32" name="Shape 30"/>
          <p:cNvSpPr/>
          <p:nvPr/>
        </p:nvSpPr>
        <p:spPr>
          <a:xfrm>
            <a:off x="8138160" y="3703320"/>
            <a:ext cx="73152" cy="1600200"/>
          </a:xfrm>
          <a:prstGeom prst="rect">
            <a:avLst/>
          </a:prstGeom>
          <a:solidFill>
            <a:srgbClr val="F5A623"/>
          </a:solidFill>
          <a:ln/>
        </p:spPr>
      </p:sp>
      <p:sp>
        <p:nvSpPr>
          <p:cNvPr id="33" name="Text 31"/>
          <p:cNvSpPr/>
          <p:nvPr/>
        </p:nvSpPr>
        <p:spPr>
          <a:xfrm>
            <a:off x="8394192" y="3849624"/>
            <a:ext cx="3108960" cy="274320"/>
          </a:xfrm>
          <a:prstGeom prst="rect">
            <a:avLst/>
          </a:prstGeom>
          <a:noFill/>
          <a:ln/>
        </p:spPr>
        <p:txBody>
          <a:bodyPr wrap="square" lIns="0" tIns="0" rIns="0" bIns="0" rtlCol="0" anchor="ctr"/>
          <a:lstStyle/>
          <a:p>
            <a:pPr indent="0" marL="0">
              <a:buNone/>
            </a:pPr>
            <a:r>
              <a:rPr lang="en-US" sz="1000" b="1" spc="150" kern="0" dirty="0">
                <a:solidFill>
                  <a:srgbClr val="F5A623"/>
                </a:solidFill>
                <a:latin typeface="Calibri" pitchFamily="34" charset="0"/>
                <a:ea typeface="Calibri" pitchFamily="34" charset="-122"/>
                <a:cs typeface="Calibri" pitchFamily="34" charset="-120"/>
              </a:rPr>
              <a:t>PAGE 6</a:t>
            </a:r>
            <a:endParaRPr lang="en-US" sz="1000" dirty="0"/>
          </a:p>
        </p:txBody>
      </p:sp>
      <p:sp>
        <p:nvSpPr>
          <p:cNvPr id="34" name="Text 32"/>
          <p:cNvSpPr/>
          <p:nvPr/>
        </p:nvSpPr>
        <p:spPr>
          <a:xfrm>
            <a:off x="8394192" y="4142232"/>
            <a:ext cx="3108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Flight Status Analysis</a:t>
            </a:r>
            <a:endParaRPr lang="en-US" sz="1600" dirty="0"/>
          </a:p>
        </p:txBody>
      </p:sp>
      <p:sp>
        <p:nvSpPr>
          <p:cNvPr id="35" name="Text 33"/>
          <p:cNvSpPr/>
          <p:nvPr/>
        </p:nvSpPr>
        <p:spPr>
          <a:xfrm>
            <a:off x="8394192" y="4617720"/>
            <a:ext cx="3108960" cy="594360"/>
          </a:xfrm>
          <a:prstGeom prst="rect">
            <a:avLst/>
          </a:prstGeom>
          <a:noFill/>
          <a:ln/>
        </p:spPr>
        <p:txBody>
          <a:bodyPr wrap="square" lIns="0" tIns="0" rIns="0" bIns="0" rtlCol="0" anchor="ctr"/>
          <a:lstStyle/>
          <a:p>
            <a:pPr indent="0" marL="0">
              <a:lnSpc>
                <a:spcPct val="120000"/>
              </a:lnSpc>
              <a:buNone/>
            </a:pPr>
            <a:r>
              <a:rPr lang="en-US" sz="1050" dirty="0">
                <a:solidFill>
                  <a:srgbClr val="C7D0D8"/>
                </a:solidFill>
                <a:latin typeface="Calibri" pitchFamily="34" charset="0"/>
                <a:ea typeface="Calibri" pitchFamily="34" charset="-122"/>
                <a:cs typeface="Calibri" pitchFamily="34" charset="-120"/>
              </a:rPr>
              <a:t>Flight Status Distribution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E33"/>
        </a:solidFill>
      </p:bgPr>
    </p:bg>
    <p:spTree>
      <p:nvGrpSpPr>
        <p:cNvPr id="1" name=""/>
        <p:cNvGrpSpPr/>
        <p:nvPr/>
      </p:nvGrpSpPr>
      <p:grpSpPr>
        <a:xfrm>
          <a:off x="0" y="0"/>
          <a:ext cx="0" cy="0"/>
          <a:chOff x="0" y="0"/>
          <a:chExt cx="0" cy="0"/>
        </a:xfrm>
      </p:grpSpPr>
      <p:sp>
        <p:nvSpPr>
          <p:cNvPr id="2" name="Text 0"/>
          <p:cNvSpPr/>
          <p:nvPr/>
        </p:nvSpPr>
        <p:spPr>
          <a:xfrm>
            <a:off x="11247120" y="6510528"/>
            <a:ext cx="822960" cy="274320"/>
          </a:xfrm>
          <a:prstGeom prst="rect">
            <a:avLst/>
          </a:prstGeom>
          <a:noFill/>
          <a:ln/>
        </p:spPr>
        <p:txBody>
          <a:bodyPr wrap="square" lIns="0" tIns="0" rIns="0" bIns="0" rtlCol="0" anchor="ctr"/>
          <a:lstStyle/>
          <a:p>
            <a:pPr algn="r" indent="0" marL="0">
              <a:buNone/>
            </a:pPr>
            <a:r>
              <a:rPr lang="en-US" sz="900" dirty="0">
                <a:solidFill>
                  <a:srgbClr val="657079"/>
                </a:solidFill>
                <a:latin typeface="Calibri" pitchFamily="34" charset="0"/>
                <a:ea typeface="Calibri" pitchFamily="34" charset="-122"/>
                <a:cs typeface="Calibri" pitchFamily="34" charset="-120"/>
              </a:rPr>
              <a:t>10 / 10</a:t>
            </a:r>
            <a:endParaRPr lang="en-US" sz="900" dirty="0"/>
          </a:p>
        </p:txBody>
      </p:sp>
      <p:sp>
        <p:nvSpPr>
          <p:cNvPr id="3" name="Text 1"/>
          <p:cNvSpPr/>
          <p:nvPr/>
        </p:nvSpPr>
        <p:spPr>
          <a:xfrm>
            <a:off x="640080" y="64008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658368" y="1298448"/>
            <a:ext cx="502920" cy="54864"/>
          </a:xfrm>
          <a:prstGeom prst="rect">
            <a:avLst/>
          </a:prstGeom>
          <a:solidFill>
            <a:srgbClr val="F5A623"/>
          </a:solidFill>
          <a:ln/>
        </p:spPr>
      </p:sp>
      <p:sp>
        <p:nvSpPr>
          <p:cNvPr id="5" name="Shape 3"/>
          <p:cNvSpPr/>
          <p:nvPr/>
        </p:nvSpPr>
        <p:spPr>
          <a:xfrm>
            <a:off x="640080" y="1783080"/>
            <a:ext cx="109728" cy="109728"/>
          </a:xfrm>
          <a:prstGeom prst="ellipse">
            <a:avLst/>
          </a:prstGeom>
          <a:solidFill>
            <a:srgbClr val="F5A623"/>
          </a:solidFill>
          <a:ln/>
        </p:spPr>
      </p:sp>
      <p:sp>
        <p:nvSpPr>
          <p:cNvPr id="6" name="Text 4"/>
          <p:cNvSpPr/>
          <p:nvPr/>
        </p:nvSpPr>
        <p:spPr>
          <a:xfrm>
            <a:off x="914400" y="1664208"/>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Delay, not cancellation, is the core issue</a:t>
            </a:r>
            <a:endParaRPr lang="en-US" sz="1500" dirty="0"/>
          </a:p>
        </p:txBody>
      </p:sp>
      <p:sp>
        <p:nvSpPr>
          <p:cNvPr id="7" name="Text 5"/>
          <p:cNvSpPr/>
          <p:nvPr/>
        </p:nvSpPr>
        <p:spPr>
          <a:xfrm>
            <a:off x="914400" y="2057400"/>
            <a:ext cx="4892040" cy="1371600"/>
          </a:xfrm>
          <a:prstGeom prst="rect">
            <a:avLst/>
          </a:prstGeom>
          <a:noFill/>
          <a:ln/>
        </p:spPr>
        <p:txBody>
          <a:bodyPr wrap="square" lIns="0" tIns="0" rIns="0" bIns="0" rtlCol="0" anchor="ctr"/>
          <a:lstStyle/>
          <a:p>
            <a:pPr indent="0" marL="0">
              <a:lnSpc>
                <a:spcPct val="130000"/>
              </a:lnSpc>
              <a:buNone/>
            </a:pPr>
            <a:r>
              <a:rPr lang="en-US" sz="1200" dirty="0">
                <a:solidFill>
                  <a:srgbClr val="B8C2CB"/>
                </a:solidFill>
                <a:latin typeface="Calibri" pitchFamily="34" charset="0"/>
                <a:ea typeface="Calibri" pitchFamily="34" charset="-122"/>
                <a:cs typeface="Calibri" pitchFamily="34" charset="-120"/>
              </a:rPr>
              <a:t>63% of flights are delayed versus under 3% cancelled — the operational focus should be delay reduction, not cancellation prevention.</a:t>
            </a:r>
            <a:endParaRPr lang="en-US" sz="1200" dirty="0"/>
          </a:p>
        </p:txBody>
      </p:sp>
      <p:sp>
        <p:nvSpPr>
          <p:cNvPr id="8" name="Shape 6"/>
          <p:cNvSpPr/>
          <p:nvPr/>
        </p:nvSpPr>
        <p:spPr>
          <a:xfrm>
            <a:off x="6263640" y="1783080"/>
            <a:ext cx="109728" cy="109728"/>
          </a:xfrm>
          <a:prstGeom prst="ellipse">
            <a:avLst/>
          </a:prstGeom>
          <a:solidFill>
            <a:srgbClr val="F5A623"/>
          </a:solidFill>
          <a:ln/>
        </p:spPr>
      </p:sp>
      <p:sp>
        <p:nvSpPr>
          <p:cNvPr id="9" name="Text 7"/>
          <p:cNvSpPr/>
          <p:nvPr/>
        </p:nvSpPr>
        <p:spPr>
          <a:xfrm>
            <a:off x="6537960" y="1664208"/>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Carrier performance varies meaningfully</a:t>
            </a:r>
            <a:endParaRPr lang="en-US" sz="1500" dirty="0"/>
          </a:p>
        </p:txBody>
      </p:sp>
      <p:sp>
        <p:nvSpPr>
          <p:cNvPr id="10" name="Text 8"/>
          <p:cNvSpPr/>
          <p:nvPr/>
        </p:nvSpPr>
        <p:spPr>
          <a:xfrm>
            <a:off x="6537960" y="2057400"/>
            <a:ext cx="4892040" cy="1371600"/>
          </a:xfrm>
          <a:prstGeom prst="rect">
            <a:avLst/>
          </a:prstGeom>
          <a:noFill/>
          <a:ln/>
        </p:spPr>
        <p:txBody>
          <a:bodyPr wrap="square" lIns="0" tIns="0" rIns="0" bIns="0" rtlCol="0" anchor="ctr"/>
          <a:lstStyle/>
          <a:p>
            <a:pPr indent="0" marL="0">
              <a:lnSpc>
                <a:spcPct val="130000"/>
              </a:lnSpc>
              <a:buNone/>
            </a:pPr>
            <a:r>
              <a:rPr lang="en-US" sz="1200" dirty="0">
                <a:solidFill>
                  <a:srgbClr val="B8C2CB"/>
                </a:solidFill>
                <a:latin typeface="Calibri" pitchFamily="34" charset="0"/>
                <a:ea typeface="Calibri" pitchFamily="34" charset="-122"/>
                <a:cs typeface="Calibri" pitchFamily="34" charset="-120"/>
              </a:rPr>
              <a:t>Vistara and IndiGo average ~20 minutes of delay, while Air India Express and SpiceJet run 7–8 minutes slower on average.</a:t>
            </a:r>
            <a:endParaRPr lang="en-US" sz="1200" dirty="0"/>
          </a:p>
        </p:txBody>
      </p:sp>
      <p:sp>
        <p:nvSpPr>
          <p:cNvPr id="11" name="Shape 9"/>
          <p:cNvSpPr/>
          <p:nvPr/>
        </p:nvSpPr>
        <p:spPr>
          <a:xfrm>
            <a:off x="640080" y="3703320"/>
            <a:ext cx="109728" cy="109728"/>
          </a:xfrm>
          <a:prstGeom prst="ellipse">
            <a:avLst/>
          </a:prstGeom>
          <a:solidFill>
            <a:srgbClr val="F5A623"/>
          </a:solidFill>
          <a:ln/>
        </p:spPr>
      </p:sp>
      <p:sp>
        <p:nvSpPr>
          <p:cNvPr id="12" name="Text 10"/>
          <p:cNvSpPr/>
          <p:nvPr/>
        </p:nvSpPr>
        <p:spPr>
          <a:xfrm>
            <a:off x="914400" y="3584448"/>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Evenings are the pressure point</a:t>
            </a:r>
            <a:endParaRPr lang="en-US" sz="1500" dirty="0"/>
          </a:p>
        </p:txBody>
      </p:sp>
      <p:sp>
        <p:nvSpPr>
          <p:cNvPr id="13" name="Text 11"/>
          <p:cNvSpPr/>
          <p:nvPr/>
        </p:nvSpPr>
        <p:spPr>
          <a:xfrm>
            <a:off x="914400" y="3977640"/>
            <a:ext cx="4892040" cy="1371600"/>
          </a:xfrm>
          <a:prstGeom prst="rect">
            <a:avLst/>
          </a:prstGeom>
          <a:noFill/>
          <a:ln/>
        </p:spPr>
        <p:txBody>
          <a:bodyPr wrap="square" lIns="0" tIns="0" rIns="0" bIns="0" rtlCol="0" anchor="ctr"/>
          <a:lstStyle/>
          <a:p>
            <a:pPr indent="0" marL="0">
              <a:lnSpc>
                <a:spcPct val="130000"/>
              </a:lnSpc>
              <a:buNone/>
            </a:pPr>
            <a:r>
              <a:rPr lang="en-US" sz="1200" dirty="0">
                <a:solidFill>
                  <a:srgbClr val="B8C2CB"/>
                </a:solidFill>
                <a:latin typeface="Calibri" pitchFamily="34" charset="0"/>
                <a:ea typeface="Calibri" pitchFamily="34" charset="-122"/>
                <a:cs typeface="Calibri" pitchFamily="34" charset="-120"/>
              </a:rPr>
              <a:t>Average delay peaks between 18:00–21:00 (31–34 min), consistent with delays compounding through the day.</a:t>
            </a:r>
            <a:endParaRPr lang="en-US" sz="1200" dirty="0"/>
          </a:p>
        </p:txBody>
      </p:sp>
      <p:sp>
        <p:nvSpPr>
          <p:cNvPr id="14" name="Shape 12"/>
          <p:cNvSpPr/>
          <p:nvPr/>
        </p:nvSpPr>
        <p:spPr>
          <a:xfrm>
            <a:off x="6263640" y="3703320"/>
            <a:ext cx="109728" cy="109728"/>
          </a:xfrm>
          <a:prstGeom prst="ellipse">
            <a:avLst/>
          </a:prstGeom>
          <a:solidFill>
            <a:srgbClr val="F5A623"/>
          </a:solidFill>
          <a:ln/>
        </p:spPr>
      </p:sp>
      <p:sp>
        <p:nvSpPr>
          <p:cNvPr id="15" name="Text 13"/>
          <p:cNvSpPr/>
          <p:nvPr/>
        </p:nvSpPr>
        <p:spPr>
          <a:xfrm>
            <a:off x="6537960" y="3584448"/>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handful of airports drive the gap</a:t>
            </a:r>
            <a:endParaRPr lang="en-US" sz="1500" dirty="0"/>
          </a:p>
        </p:txBody>
      </p:sp>
      <p:sp>
        <p:nvSpPr>
          <p:cNvPr id="16" name="Text 14"/>
          <p:cNvSpPr/>
          <p:nvPr/>
        </p:nvSpPr>
        <p:spPr>
          <a:xfrm>
            <a:off x="6537960" y="3977640"/>
            <a:ext cx="4892040" cy="1371600"/>
          </a:xfrm>
          <a:prstGeom prst="rect">
            <a:avLst/>
          </a:prstGeom>
          <a:noFill/>
          <a:ln/>
        </p:spPr>
        <p:txBody>
          <a:bodyPr wrap="square" lIns="0" tIns="0" rIns="0" bIns="0" rtlCol="0" anchor="ctr"/>
          <a:lstStyle/>
          <a:p>
            <a:pPr indent="0" marL="0">
              <a:lnSpc>
                <a:spcPct val="130000"/>
              </a:lnSpc>
              <a:buNone/>
            </a:pPr>
            <a:r>
              <a:rPr lang="en-US" sz="1200" dirty="0">
                <a:solidFill>
                  <a:srgbClr val="B8C2CB"/>
                </a:solidFill>
                <a:latin typeface="Calibri" pitchFamily="34" charset="0"/>
                <a:ea typeface="Calibri" pitchFamily="34" charset="-122"/>
                <a:cs typeface="Calibri" pitchFamily="34" charset="-120"/>
              </a:rPr>
              <a:t>Mumbai, Jaipur, and Kolkata see the longest average delays; Ahmedabad is the most consistently on-time.</a:t>
            </a:r>
            <a:endParaRPr lang="en-US" sz="1200" dirty="0"/>
          </a:p>
        </p:txBody>
      </p:sp>
      <p:sp>
        <p:nvSpPr>
          <p:cNvPr id="17" name="Text 15"/>
          <p:cNvSpPr/>
          <p:nvPr/>
        </p:nvSpPr>
        <p:spPr>
          <a:xfrm>
            <a:off x="640080" y="6126480"/>
            <a:ext cx="7315200" cy="457200"/>
          </a:xfrm>
          <a:prstGeom prst="rect">
            <a:avLst/>
          </a:prstGeom>
          <a:noFill/>
          <a:ln/>
        </p:spPr>
        <p:txBody>
          <a:bodyPr wrap="square" lIns="0" tIns="0" rIns="0" bIns="0" rtlCol="0" anchor="ctr"/>
          <a:lstStyle/>
          <a:p>
            <a:pPr indent="0" marL="0">
              <a:buNone/>
            </a:pPr>
            <a:r>
              <a:rPr lang="en-US" sz="1600" i="1" dirty="0">
                <a:solidFill>
                  <a:srgbClr val="CFCFCF"/>
                </a:solidFill>
                <a:latin typeface="Cambria" pitchFamily="34" charset="0"/>
                <a:ea typeface="Cambria" pitchFamily="34" charset="-122"/>
                <a:cs typeface="Cambria" pitchFamily="34" charset="-120"/>
              </a:rPr>
              <a:t>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2026-08-11T05:27:33Z</dcterms:created>
  <dcterms:modified xsi:type="dcterms:W3CDTF">2026-08-11T05:27:33Z</dcterms:modified>
</cp:coreProperties>
</file>